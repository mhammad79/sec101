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3" r:id="rId6"/>
    <p:sldId id="264" r:id="rId7"/>
    <p:sldId id="265" r:id="rId8"/>
    <p:sldId id="266" r:id="rId9"/>
    <p:sldId id="268" r:id="rId10"/>
    <p:sldId id="270" r:id="rId11"/>
    <p:sldId id="273" r:id="rId12"/>
    <p:sldId id="275" r:id="rId13"/>
    <p:sldId id="277" r:id="rId14"/>
    <p:sldId id="278" r:id="rId15"/>
    <p:sldId id="287" r:id="rId16"/>
    <p:sldId id="282" r:id="rId17"/>
    <p:sldId id="296" r:id="rId18"/>
    <p:sldId id="284" r:id="rId19"/>
    <p:sldId id="285" r:id="rId20"/>
    <p:sldId id="290" r:id="rId21"/>
    <p:sldId id="291" r:id="rId22"/>
    <p:sldId id="295" r:id="rId23"/>
  </p:sldIdLst>
  <p:sldSz cx="14630400" cy="8229600"/>
  <p:notesSz cx="8229600" cy="14630400"/>
  <p:embeddedFontLst>
    <p:embeddedFont>
      <p:font typeface="Calibri" panose="020F0502020204030204" pitchFamily="34" charset="0"/>
      <p:regular r:id="rId25"/>
      <p:bold r:id="rId26"/>
      <p:italic r:id="rId27"/>
      <p:boldItalic r:id="rId28"/>
    </p:embeddedFont>
    <p:embeddedFont>
      <p:font typeface="Tomorrow" panose="020B0604020202020204" charset="0"/>
      <p:regular r:id="rId29"/>
    </p:embeddedFont>
    <p:embeddedFont>
      <p:font typeface="Tomorrow Semi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4786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514848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png"/><Relationship Id="rId7" Type="http://schemas.openxmlformats.org/officeDocument/2006/relationships/image" Target="../media/image19.svg"/><Relationship Id="rId2" Type="http://schemas.openxmlformats.org/officeDocument/2006/relationships/notesSlide" Target="../notesSlides/notesSlide11.xml"/><Relationship Id="rId1" Type="http://schemas.openxmlformats.org/officeDocument/2006/relationships/slideLayout" Target="../slideLayouts/slideLayout19.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3" Type="http://schemas.openxmlformats.org/officeDocument/2006/relationships/image" Target="../media/image21.png"/><Relationship Id="rId7" Type="http://schemas.openxmlformats.org/officeDocument/2006/relationships/image" Target="../media/image24.svg"/><Relationship Id="rId12"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1.png"/><Relationship Id="rId9" Type="http://schemas.openxmlformats.org/officeDocument/2006/relationships/image" Target="../media/image26.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558505" y="3974699"/>
            <a:ext cx="7061002"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Chapter 2: Software Security Problems</a:t>
            </a:r>
            <a:endParaRPr lang="en-US" sz="39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8C8D36F-36AB-4914-9D10-4D9EF9B622DB}"/>
              </a:ext>
            </a:extLst>
          </p:cNvPr>
          <p:cNvSpPr/>
          <p:nvPr/>
        </p:nvSpPr>
        <p:spPr>
          <a:xfrm>
            <a:off x="2818502" y="1165128"/>
            <a:ext cx="8197327" cy="1446550"/>
          </a:xfrm>
          <a:prstGeom prst="rect">
            <a:avLst/>
          </a:prstGeom>
        </p:spPr>
        <p:txBody>
          <a:bodyPr wrap="square">
            <a:spAutoFit/>
          </a:bodyPr>
          <a:lstStyle/>
          <a:p>
            <a:pPr algn="ctr"/>
            <a:r>
              <a:rPr lang="en-US" sz="4400" dirty="0">
                <a:solidFill>
                  <a:srgbClr val="000000"/>
                </a:solidFill>
                <a:latin typeface="Times New Roman" panose="02020603050405020304" pitchFamily="18" charset="0"/>
                <a:cs typeface="Times New Roman" panose="02020603050405020304" pitchFamily="18" charset="0"/>
              </a:rPr>
              <a:t>Software Security: Concepts &amp; Practices</a:t>
            </a:r>
            <a:endParaRPr lang="en-US" sz="4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p:nvPr/>
        </p:nvSpPr>
        <p:spPr>
          <a:xfrm>
            <a:off x="793790" y="1460897"/>
            <a:ext cx="9453920"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The Critical State of Software Security</a:t>
            </a:r>
            <a:endParaRPr lang="en-US" sz="3900" dirty="0">
              <a:latin typeface="Times New Roman" panose="02020603050405020304" pitchFamily="18" charset="0"/>
              <a:cs typeface="Times New Roman" panose="02020603050405020304" pitchFamily="18" charset="0"/>
            </a:endParaRPr>
          </a:p>
        </p:txBody>
      </p:sp>
      <p:sp>
        <p:nvSpPr>
          <p:cNvPr id="5" name="Text 3"/>
          <p:cNvSpPr/>
          <p:nvPr/>
        </p:nvSpPr>
        <p:spPr>
          <a:xfrm>
            <a:off x="793789" y="2363272"/>
            <a:ext cx="12889937" cy="4231166"/>
          </a:xfrm>
          <a:prstGeom prst="rect">
            <a:avLst/>
          </a:prstGeom>
          <a:noFill/>
          <a:ln/>
        </p:spPr>
        <p:txBody>
          <a:bodyPr wrap="square" lIns="0" tIns="0" rIns="0" bIns="0" rtlCol="0" anchor="t"/>
          <a:lstStyle/>
          <a:p>
            <a:pPr marL="285750" indent="-285750" algn="l">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Software is the key component of any computer system</a:t>
            </a:r>
          </a:p>
          <a:p>
            <a:pPr marL="285750" indent="-285750" algn="l">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Security breaches comes from unexpected behavior developed in an illogical manner</a:t>
            </a:r>
          </a:p>
          <a:p>
            <a:pPr marL="285750" indent="-285750">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Configuration errors represent one of the most significant vulnerabilities in cloud computing environments today</a:t>
            </a:r>
          </a:p>
          <a:p>
            <a:pPr marL="285750" indent="-285750">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Software developers face different challenges while strengthening security.</a:t>
            </a:r>
          </a:p>
          <a:p>
            <a:pPr marL="285750" indent="-285750">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The concept emphasizes that software must continue its functionality under malicious attacks. </a:t>
            </a:r>
          </a:p>
          <a:p>
            <a:pPr marL="285750" indent="-285750">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A single line of code is enough to develop perceived complexity and destabilize entire systems.</a:t>
            </a: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470927"/>
            <a:ext cx="11873984"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Two Fundamental Aspects of Software Security</a:t>
            </a:r>
            <a:endParaRPr lang="en-US" sz="3900" dirty="0">
              <a:latin typeface="Times New Roman" panose="02020603050405020304" pitchFamily="18" charset="0"/>
              <a:cs typeface="Times New Roman" panose="02020603050405020304" pitchFamily="18" charset="0"/>
            </a:endParaRPr>
          </a:p>
        </p:txBody>
      </p:sp>
      <p:sp>
        <p:nvSpPr>
          <p:cNvPr id="3" name="Shape 1"/>
          <p:cNvSpPr/>
          <p:nvPr/>
        </p:nvSpPr>
        <p:spPr>
          <a:xfrm>
            <a:off x="793790" y="3145988"/>
            <a:ext cx="6422231" cy="2096095"/>
          </a:xfrm>
          <a:prstGeom prst="roundRect">
            <a:avLst>
              <a:gd name="adj" fmla="val 1420"/>
            </a:avLst>
          </a:prstGeom>
          <a:solidFill>
            <a:srgbClr val="F0EAEA"/>
          </a:solidFill>
          <a:ln/>
        </p:spPr>
      </p:sp>
      <p:sp>
        <p:nvSpPr>
          <p:cNvPr id="4" name="Text 2"/>
          <p:cNvSpPr/>
          <p:nvPr/>
        </p:nvSpPr>
        <p:spPr>
          <a:xfrm>
            <a:off x="992148" y="3344347"/>
            <a:ext cx="3197900"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Building Secure Software</a:t>
            </a:r>
            <a:endParaRPr lang="en-US" sz="2000" b="1" dirty="0">
              <a:latin typeface="Times New Roman" panose="02020603050405020304" pitchFamily="18" charset="0"/>
              <a:cs typeface="Times New Roman" panose="02020603050405020304" pitchFamily="18" charset="0"/>
            </a:endParaRPr>
          </a:p>
        </p:txBody>
      </p:sp>
      <p:sp>
        <p:nvSpPr>
          <p:cNvPr id="5" name="Text 3"/>
          <p:cNvSpPr/>
          <p:nvPr/>
        </p:nvSpPr>
        <p:spPr>
          <a:xfrm>
            <a:off x="992148" y="3773567"/>
            <a:ext cx="6025515" cy="1270159"/>
          </a:xfrm>
          <a:prstGeom prst="rect">
            <a:avLst/>
          </a:prstGeom>
          <a:noFill/>
          <a:ln/>
        </p:spPr>
        <p:txBody>
          <a:bodyPr wrap="square" lIns="0" tIns="0" rIns="0" bIns="0" rtlCol="0" anchor="t"/>
          <a:lstStyle/>
          <a:p>
            <a:pPr marL="342900" indent="-342900" algn="l">
              <a:lnSpc>
                <a:spcPts val="2500"/>
              </a:lnSpc>
              <a:buFont typeface="Arial" panose="020B0604020202020204" pitchFamily="34" charset="0"/>
              <a:buChar char="•"/>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Developing applications following SDLC rules</a:t>
            </a:r>
          </a:p>
          <a:p>
            <a:pPr marL="342900" indent="-342900" algn="l">
              <a:lnSpc>
                <a:spcPts val="2500"/>
              </a:lnSpc>
              <a:buFont typeface="Arial" panose="020B0604020202020204" pitchFamily="34" charset="0"/>
              <a:buChar char="•"/>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Opportunities to write code, test, and develop applications according to security standards.</a:t>
            </a:r>
            <a:endParaRPr lang="en-US" sz="2000" dirty="0">
              <a:latin typeface="Times New Roman" panose="02020603050405020304" pitchFamily="18" charset="0"/>
              <a:cs typeface="Times New Roman" panose="02020603050405020304" pitchFamily="18" charset="0"/>
            </a:endParaRPr>
          </a:p>
        </p:txBody>
      </p:sp>
      <p:sp>
        <p:nvSpPr>
          <p:cNvPr id="6" name="Shape 4"/>
          <p:cNvSpPr/>
          <p:nvPr/>
        </p:nvSpPr>
        <p:spPr>
          <a:xfrm>
            <a:off x="7414379" y="3145988"/>
            <a:ext cx="6422231" cy="2096095"/>
          </a:xfrm>
          <a:prstGeom prst="roundRect">
            <a:avLst>
              <a:gd name="adj" fmla="val 1420"/>
            </a:avLst>
          </a:prstGeom>
          <a:solidFill>
            <a:srgbClr val="F0EAEA"/>
          </a:solidFill>
          <a:ln/>
        </p:spPr>
      </p:sp>
      <p:sp>
        <p:nvSpPr>
          <p:cNvPr id="7" name="Text 5"/>
          <p:cNvSpPr/>
          <p:nvPr/>
        </p:nvSpPr>
        <p:spPr>
          <a:xfrm>
            <a:off x="7612737" y="3344347"/>
            <a:ext cx="3057525"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Managing Software Risk</a:t>
            </a:r>
            <a:endParaRPr lang="en-US" sz="2000" b="1" dirty="0">
              <a:latin typeface="Times New Roman" panose="02020603050405020304" pitchFamily="18" charset="0"/>
              <a:cs typeface="Times New Roman" panose="02020603050405020304" pitchFamily="18" charset="0"/>
            </a:endParaRPr>
          </a:p>
        </p:txBody>
      </p:sp>
      <p:sp>
        <p:nvSpPr>
          <p:cNvPr id="8" name="Text 6"/>
          <p:cNvSpPr/>
          <p:nvPr/>
        </p:nvSpPr>
        <p:spPr>
          <a:xfrm>
            <a:off x="7612737" y="3773567"/>
            <a:ext cx="6025515" cy="952619"/>
          </a:xfrm>
          <a:prstGeom prst="rect">
            <a:avLst/>
          </a:prstGeom>
          <a:noFill/>
          <a:ln/>
        </p:spPr>
        <p:txBody>
          <a:bodyPr wrap="square" lIns="0" tIns="0" rIns="0" bIns="0" rtlCol="0" anchor="t"/>
          <a:lstStyle/>
          <a:p>
            <a:pPr marL="342900" indent="-342900" algn="l">
              <a:lnSpc>
                <a:spcPts val="2500"/>
              </a:lnSpc>
              <a:buFont typeface="Arial" panose="020B0604020202020204" pitchFamily="34" charset="0"/>
              <a:buChar char="•"/>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Managing associated risks of deployed applications.</a:t>
            </a:r>
          </a:p>
          <a:p>
            <a:pPr marL="342900" indent="-342900" algn="l">
              <a:lnSpc>
                <a:spcPts val="2500"/>
              </a:lnSpc>
              <a:buFont typeface="Arial" panose="020B0604020202020204" pitchFamily="34" charset="0"/>
              <a:buChar char="•"/>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Finding security vulnerabilities.</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793790" y="5465326"/>
            <a:ext cx="13042821" cy="635079"/>
          </a:xfrm>
          <a:prstGeom prst="rect">
            <a:avLst/>
          </a:prstGeom>
          <a:noFill/>
          <a:ln/>
        </p:spPr>
        <p:txBody>
          <a:bodyPr wrap="square" lIns="0" tIns="0" rIns="0" bIns="0" rtlCol="0" anchor="t"/>
          <a:lstStyle/>
          <a:p>
            <a:pPr marL="342900" indent="-342900" algn="l">
              <a:lnSpc>
                <a:spcPts val="2500"/>
              </a:lnSpc>
              <a:buFont typeface="Arial" panose="020B0604020202020204" pitchFamily="34" charset="0"/>
              <a:buChar char="•"/>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The critical distinction is in timing: one focuses on prevention during development, while the other addresses mitigation after deployment.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89052"/>
            <a:ext cx="9951006"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Primary Sources of Software Insecurity</a:t>
            </a:r>
            <a:endParaRPr lang="en-US" sz="3900" dirty="0">
              <a:latin typeface="Times New Roman" panose="02020603050405020304" pitchFamily="18" charset="0"/>
              <a:cs typeface="Times New Roman" panose="02020603050405020304" pitchFamily="18" charset="0"/>
            </a:endParaRPr>
          </a:p>
        </p:txBody>
      </p:sp>
      <p:sp>
        <p:nvSpPr>
          <p:cNvPr id="3" name="Shape 1"/>
          <p:cNvSpPr/>
          <p:nvPr/>
        </p:nvSpPr>
        <p:spPr>
          <a:xfrm>
            <a:off x="793790" y="2005965"/>
            <a:ext cx="6422231" cy="1824276"/>
          </a:xfrm>
          <a:prstGeom prst="roundRect">
            <a:avLst>
              <a:gd name="adj" fmla="val 6015"/>
            </a:avLst>
          </a:prstGeom>
          <a:solidFill>
            <a:srgbClr val="FCFCFC"/>
          </a:solidFill>
          <a:ln w="22860">
            <a:solidFill>
              <a:srgbClr val="D6D0D0"/>
            </a:solidFill>
            <a:prstDash val="solid"/>
          </a:ln>
        </p:spPr>
      </p:sp>
      <p:sp>
        <p:nvSpPr>
          <p:cNvPr id="4" name="Shape 2"/>
          <p:cNvSpPr/>
          <p:nvPr/>
        </p:nvSpPr>
        <p:spPr>
          <a:xfrm>
            <a:off x="770930" y="2005965"/>
            <a:ext cx="91440" cy="1824276"/>
          </a:xfrm>
          <a:prstGeom prst="roundRect">
            <a:avLst>
              <a:gd name="adj" fmla="val 32558"/>
            </a:avLst>
          </a:prstGeom>
          <a:solidFill>
            <a:srgbClr val="1D1D1B"/>
          </a:solidFill>
          <a:ln/>
        </p:spPr>
      </p:sp>
      <p:sp>
        <p:nvSpPr>
          <p:cNvPr id="5" name="Text 3"/>
          <p:cNvSpPr/>
          <p:nvPr/>
        </p:nvSpPr>
        <p:spPr>
          <a:xfrm>
            <a:off x="1083588" y="2227183"/>
            <a:ext cx="2714744"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Network Connectivity</a:t>
            </a:r>
            <a:endParaRPr lang="en-US" sz="2000" b="1" dirty="0">
              <a:latin typeface="Times New Roman" panose="02020603050405020304" pitchFamily="18" charset="0"/>
              <a:cs typeface="Times New Roman" panose="02020603050405020304" pitchFamily="18" charset="0"/>
            </a:endParaRPr>
          </a:p>
        </p:txBody>
      </p:sp>
      <p:sp>
        <p:nvSpPr>
          <p:cNvPr id="6" name="Text 4"/>
          <p:cNvSpPr/>
          <p:nvPr/>
        </p:nvSpPr>
        <p:spPr>
          <a:xfrm>
            <a:off x="1083588" y="2656403"/>
            <a:ext cx="5911215" cy="95261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Software connected through networking and accessing web services have bigger sources of insecurity, exposing systems to remote attacks.</a:t>
            </a:r>
            <a:endParaRPr lang="en-US" sz="2000" dirty="0">
              <a:latin typeface="Times New Roman" panose="02020603050405020304" pitchFamily="18" charset="0"/>
              <a:cs typeface="Times New Roman" panose="02020603050405020304" pitchFamily="18" charset="0"/>
            </a:endParaRPr>
          </a:p>
        </p:txBody>
      </p:sp>
      <p:sp>
        <p:nvSpPr>
          <p:cNvPr id="7" name="Shape 5"/>
          <p:cNvSpPr/>
          <p:nvPr/>
        </p:nvSpPr>
        <p:spPr>
          <a:xfrm>
            <a:off x="7414379" y="2005965"/>
            <a:ext cx="6422231" cy="1824276"/>
          </a:xfrm>
          <a:prstGeom prst="roundRect">
            <a:avLst>
              <a:gd name="adj" fmla="val 6015"/>
            </a:avLst>
          </a:prstGeom>
          <a:solidFill>
            <a:srgbClr val="FCFCFC"/>
          </a:solidFill>
          <a:ln w="22860">
            <a:solidFill>
              <a:srgbClr val="D6D0D0"/>
            </a:solidFill>
            <a:prstDash val="solid"/>
          </a:ln>
        </p:spPr>
      </p:sp>
      <p:sp>
        <p:nvSpPr>
          <p:cNvPr id="8" name="Shape 6"/>
          <p:cNvSpPr/>
          <p:nvPr/>
        </p:nvSpPr>
        <p:spPr>
          <a:xfrm>
            <a:off x="7391519" y="2005965"/>
            <a:ext cx="91440" cy="1824276"/>
          </a:xfrm>
          <a:prstGeom prst="roundRect">
            <a:avLst>
              <a:gd name="adj" fmla="val 32558"/>
            </a:avLst>
          </a:prstGeom>
          <a:solidFill>
            <a:srgbClr val="1D1D1B"/>
          </a:solidFill>
          <a:ln/>
        </p:spPr>
      </p:sp>
      <p:sp>
        <p:nvSpPr>
          <p:cNvPr id="9" name="Text 7"/>
          <p:cNvSpPr/>
          <p:nvPr/>
        </p:nvSpPr>
        <p:spPr>
          <a:xfrm>
            <a:off x="7704177" y="2227183"/>
            <a:ext cx="2634853"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Software</a:t>
            </a:r>
            <a:r>
              <a:rPr lang="en-US" sz="2000" dirty="0">
                <a:solidFill>
                  <a:srgbClr val="61615C"/>
                </a:solidFill>
                <a:latin typeface="Times New Roman" panose="02020603050405020304" pitchFamily="18" charset="0"/>
                <a:ea typeface="Tomorrow Semi Bold" pitchFamily="34" charset="-122"/>
                <a:cs typeface="Times New Roman" panose="02020603050405020304" pitchFamily="18" charset="0"/>
              </a:rPr>
              <a:t> </a:t>
            </a: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Complexity</a:t>
            </a:r>
            <a:endParaRPr lang="en-US" sz="2000" b="1" dirty="0">
              <a:latin typeface="Times New Roman" panose="02020603050405020304" pitchFamily="18" charset="0"/>
              <a:cs typeface="Times New Roman" panose="02020603050405020304" pitchFamily="18" charset="0"/>
            </a:endParaRPr>
          </a:p>
        </p:txBody>
      </p:sp>
      <p:sp>
        <p:nvSpPr>
          <p:cNvPr id="10" name="Text 8"/>
          <p:cNvSpPr/>
          <p:nvPr/>
        </p:nvSpPr>
        <p:spPr>
          <a:xfrm>
            <a:off x="7704177" y="2656403"/>
            <a:ext cx="5911215" cy="63507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Increasing complexity makes it difficult to identify and address security vulnerabilities effectively.</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793790" y="4028599"/>
            <a:ext cx="6422231" cy="1506736"/>
          </a:xfrm>
          <a:prstGeom prst="roundRect">
            <a:avLst>
              <a:gd name="adj" fmla="val 7282"/>
            </a:avLst>
          </a:prstGeom>
          <a:solidFill>
            <a:srgbClr val="FCFCFC"/>
          </a:solidFill>
          <a:ln w="22860">
            <a:solidFill>
              <a:srgbClr val="D6D0D0"/>
            </a:solidFill>
            <a:prstDash val="solid"/>
          </a:ln>
        </p:spPr>
      </p:sp>
      <p:sp>
        <p:nvSpPr>
          <p:cNvPr id="12" name="Shape 10"/>
          <p:cNvSpPr/>
          <p:nvPr/>
        </p:nvSpPr>
        <p:spPr>
          <a:xfrm>
            <a:off x="770930" y="4028599"/>
            <a:ext cx="91440" cy="1506736"/>
          </a:xfrm>
          <a:prstGeom prst="roundRect">
            <a:avLst>
              <a:gd name="adj" fmla="val 32558"/>
            </a:avLst>
          </a:prstGeom>
          <a:solidFill>
            <a:srgbClr val="1D1D1B"/>
          </a:solidFill>
          <a:ln/>
        </p:spPr>
      </p:sp>
      <p:sp>
        <p:nvSpPr>
          <p:cNvPr id="13" name="Text 11"/>
          <p:cNvSpPr/>
          <p:nvPr/>
        </p:nvSpPr>
        <p:spPr>
          <a:xfrm>
            <a:off x="1083588" y="4249817"/>
            <a:ext cx="3184922"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Inadequate Assumptions</a:t>
            </a:r>
            <a:endParaRPr lang="en-US" sz="2000" b="1" dirty="0">
              <a:latin typeface="Times New Roman" panose="02020603050405020304" pitchFamily="18" charset="0"/>
              <a:cs typeface="Times New Roman" panose="02020603050405020304" pitchFamily="18" charset="0"/>
            </a:endParaRPr>
          </a:p>
        </p:txBody>
      </p:sp>
      <p:sp>
        <p:nvSpPr>
          <p:cNvPr id="14" name="Text 12"/>
          <p:cNvSpPr/>
          <p:nvPr/>
        </p:nvSpPr>
        <p:spPr>
          <a:xfrm>
            <a:off x="1083588" y="4679037"/>
            <a:ext cx="5911215" cy="63507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Incorrect assumptions by development teams regarding executed input for projected external entities.</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7414379" y="4028599"/>
            <a:ext cx="6422231" cy="1506736"/>
          </a:xfrm>
          <a:prstGeom prst="roundRect">
            <a:avLst>
              <a:gd name="adj" fmla="val 7282"/>
            </a:avLst>
          </a:prstGeom>
          <a:solidFill>
            <a:srgbClr val="FCFCFC"/>
          </a:solidFill>
          <a:ln w="22860">
            <a:solidFill>
              <a:srgbClr val="D6D0D0"/>
            </a:solidFill>
            <a:prstDash val="solid"/>
          </a:ln>
        </p:spPr>
      </p:sp>
      <p:sp>
        <p:nvSpPr>
          <p:cNvPr id="16" name="Shape 14"/>
          <p:cNvSpPr/>
          <p:nvPr/>
        </p:nvSpPr>
        <p:spPr>
          <a:xfrm>
            <a:off x="7391519" y="4028599"/>
            <a:ext cx="91440" cy="1506736"/>
          </a:xfrm>
          <a:prstGeom prst="roundRect">
            <a:avLst>
              <a:gd name="adj" fmla="val 32558"/>
            </a:avLst>
          </a:prstGeom>
          <a:solidFill>
            <a:srgbClr val="1D1D1B"/>
          </a:solidFill>
          <a:ln/>
        </p:spPr>
      </p:sp>
      <p:sp>
        <p:nvSpPr>
          <p:cNvPr id="17" name="Text 15"/>
          <p:cNvSpPr/>
          <p:nvPr/>
        </p:nvSpPr>
        <p:spPr>
          <a:xfrm>
            <a:off x="7704177" y="4249817"/>
            <a:ext cx="2714744"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Component Relations</a:t>
            </a:r>
            <a:endParaRPr lang="en-US" sz="2000" b="1" dirty="0">
              <a:latin typeface="Times New Roman" panose="02020603050405020304" pitchFamily="18" charset="0"/>
              <a:cs typeface="Times New Roman" panose="02020603050405020304" pitchFamily="18" charset="0"/>
            </a:endParaRPr>
          </a:p>
        </p:txBody>
      </p:sp>
      <p:sp>
        <p:nvSpPr>
          <p:cNvPr id="18" name="Text 16"/>
          <p:cNvSpPr/>
          <p:nvPr/>
        </p:nvSpPr>
        <p:spPr>
          <a:xfrm>
            <a:off x="7704177" y="4679037"/>
            <a:ext cx="5911215" cy="63507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No premeditated relations between software components, including those provided by third parties.</a:t>
            </a:r>
            <a:endParaRPr lang="en-US" sz="2000" dirty="0">
              <a:latin typeface="Times New Roman" panose="02020603050405020304" pitchFamily="18" charset="0"/>
              <a:cs typeface="Times New Roman" panose="02020603050405020304" pitchFamily="18" charset="0"/>
            </a:endParaRPr>
          </a:p>
        </p:txBody>
      </p:sp>
      <p:sp>
        <p:nvSpPr>
          <p:cNvPr id="19" name="Shape 17"/>
          <p:cNvSpPr/>
          <p:nvPr/>
        </p:nvSpPr>
        <p:spPr>
          <a:xfrm>
            <a:off x="793790" y="5733693"/>
            <a:ext cx="6422231" cy="1506736"/>
          </a:xfrm>
          <a:prstGeom prst="roundRect">
            <a:avLst>
              <a:gd name="adj" fmla="val 7282"/>
            </a:avLst>
          </a:prstGeom>
          <a:solidFill>
            <a:srgbClr val="FCFCFC"/>
          </a:solidFill>
          <a:ln w="22860">
            <a:solidFill>
              <a:srgbClr val="D6D0D0"/>
            </a:solidFill>
            <a:prstDash val="solid"/>
          </a:ln>
        </p:spPr>
      </p:sp>
      <p:sp>
        <p:nvSpPr>
          <p:cNvPr id="20" name="Shape 18"/>
          <p:cNvSpPr/>
          <p:nvPr/>
        </p:nvSpPr>
        <p:spPr>
          <a:xfrm>
            <a:off x="770930" y="5733693"/>
            <a:ext cx="91440" cy="1506736"/>
          </a:xfrm>
          <a:prstGeom prst="roundRect">
            <a:avLst>
              <a:gd name="adj" fmla="val 32558"/>
            </a:avLst>
          </a:prstGeom>
          <a:solidFill>
            <a:srgbClr val="1D1D1B"/>
          </a:solidFill>
          <a:ln/>
        </p:spPr>
      </p:sp>
      <p:sp>
        <p:nvSpPr>
          <p:cNvPr id="21" name="Text 19"/>
          <p:cNvSpPr/>
          <p:nvPr/>
        </p:nvSpPr>
        <p:spPr>
          <a:xfrm>
            <a:off x="1083588" y="5954911"/>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Code Clarity Issues</a:t>
            </a:r>
            <a:endParaRPr lang="en-US" sz="2000" b="1" dirty="0">
              <a:latin typeface="Times New Roman" panose="02020603050405020304" pitchFamily="18" charset="0"/>
              <a:cs typeface="Times New Roman" panose="02020603050405020304" pitchFamily="18" charset="0"/>
            </a:endParaRPr>
          </a:p>
        </p:txBody>
      </p:sp>
      <p:sp>
        <p:nvSpPr>
          <p:cNvPr id="22" name="Text 20"/>
          <p:cNvSpPr/>
          <p:nvPr/>
        </p:nvSpPr>
        <p:spPr>
          <a:xfrm>
            <a:off x="1083588" y="6384131"/>
            <a:ext cx="5911215" cy="63507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Improper logical clarity for code behavior and inappropriate use of modularity.</a:t>
            </a:r>
            <a:endParaRPr lang="en-US" sz="2000" dirty="0">
              <a:latin typeface="Times New Roman" panose="02020603050405020304" pitchFamily="18" charset="0"/>
              <a:cs typeface="Times New Roman" panose="02020603050405020304" pitchFamily="18" charset="0"/>
            </a:endParaRPr>
          </a:p>
        </p:txBody>
      </p:sp>
      <p:sp>
        <p:nvSpPr>
          <p:cNvPr id="23" name="Shape 21"/>
          <p:cNvSpPr/>
          <p:nvPr/>
        </p:nvSpPr>
        <p:spPr>
          <a:xfrm>
            <a:off x="7414379" y="5733693"/>
            <a:ext cx="6422231" cy="1506736"/>
          </a:xfrm>
          <a:prstGeom prst="roundRect">
            <a:avLst>
              <a:gd name="adj" fmla="val 7282"/>
            </a:avLst>
          </a:prstGeom>
          <a:solidFill>
            <a:srgbClr val="FCFCFC"/>
          </a:solidFill>
          <a:ln w="22860">
            <a:solidFill>
              <a:srgbClr val="D6D0D0"/>
            </a:solidFill>
            <a:prstDash val="solid"/>
          </a:ln>
        </p:spPr>
      </p:sp>
      <p:sp>
        <p:nvSpPr>
          <p:cNvPr id="24" name="Shape 22"/>
          <p:cNvSpPr/>
          <p:nvPr/>
        </p:nvSpPr>
        <p:spPr>
          <a:xfrm>
            <a:off x="7391519" y="5733693"/>
            <a:ext cx="91440" cy="1506736"/>
          </a:xfrm>
          <a:prstGeom prst="roundRect">
            <a:avLst>
              <a:gd name="adj" fmla="val 32558"/>
            </a:avLst>
          </a:prstGeom>
          <a:solidFill>
            <a:srgbClr val="1D1D1B"/>
          </a:solidFill>
          <a:ln/>
        </p:spPr>
      </p:sp>
      <p:sp>
        <p:nvSpPr>
          <p:cNvPr id="25" name="Text 23"/>
          <p:cNvSpPr/>
          <p:nvPr/>
        </p:nvSpPr>
        <p:spPr>
          <a:xfrm>
            <a:off x="7704177" y="5954911"/>
            <a:ext cx="2720697"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Validation &amp; Handling</a:t>
            </a:r>
            <a:endParaRPr lang="en-US" sz="2000" b="1" dirty="0">
              <a:latin typeface="Times New Roman" panose="02020603050405020304" pitchFamily="18" charset="0"/>
              <a:cs typeface="Times New Roman" panose="02020603050405020304" pitchFamily="18" charset="0"/>
            </a:endParaRPr>
          </a:p>
        </p:txBody>
      </p:sp>
      <p:sp>
        <p:nvSpPr>
          <p:cNvPr id="26" name="Text 24"/>
          <p:cNvSpPr/>
          <p:nvPr/>
        </p:nvSpPr>
        <p:spPr>
          <a:xfrm>
            <a:off x="7704177" y="6384131"/>
            <a:ext cx="5911215" cy="63507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Inadequate input validation combined with poor error handling and exception handling mechanisms.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085023"/>
            <a:ext cx="10536436"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The Business Impact of Software Security</a:t>
            </a:r>
            <a:endParaRPr lang="en-US" sz="39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660009"/>
            <a:ext cx="595313" cy="595313"/>
          </a:xfrm>
          <a:prstGeom prst="rect">
            <a:avLst/>
          </a:prstGeom>
        </p:spPr>
      </p:pic>
      <p:sp>
        <p:nvSpPr>
          <p:cNvPr id="5" name="Text 2"/>
          <p:cNvSpPr/>
          <p:nvPr/>
        </p:nvSpPr>
        <p:spPr>
          <a:xfrm>
            <a:off x="1637109" y="3827410"/>
            <a:ext cx="2672596"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Business Profitability</a:t>
            </a:r>
            <a:endParaRPr lang="en-US" sz="2000" b="1" dirty="0">
              <a:latin typeface="Times New Roman" panose="02020603050405020304" pitchFamily="18" charset="0"/>
              <a:cs typeface="Times New Roman" panose="02020603050405020304" pitchFamily="18" charset="0"/>
            </a:endParaRPr>
          </a:p>
        </p:txBody>
      </p:sp>
      <p:sp>
        <p:nvSpPr>
          <p:cNvPr id="6" name="Text 3"/>
          <p:cNvSpPr/>
          <p:nvPr/>
        </p:nvSpPr>
        <p:spPr>
          <a:xfrm>
            <a:off x="1637109" y="4256631"/>
            <a:ext cx="3338870" cy="127015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Secure software directly impacts revenue generation and customer trust, leading to sustainable business growth.</a:t>
            </a:r>
            <a:endParaRPr lang="en-US" sz="200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223986" y="3660009"/>
            <a:ext cx="595313" cy="595313"/>
          </a:xfrm>
          <a:prstGeom prst="rect">
            <a:avLst/>
          </a:prstGeom>
        </p:spPr>
      </p:pic>
      <p:sp>
        <p:nvSpPr>
          <p:cNvPr id="8" name="Text 4"/>
          <p:cNvSpPr/>
          <p:nvPr/>
        </p:nvSpPr>
        <p:spPr>
          <a:xfrm>
            <a:off x="6067306" y="3827410"/>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Customer Trust</a:t>
            </a:r>
            <a:endParaRPr lang="en-US" sz="2000" b="1" dirty="0">
              <a:latin typeface="Times New Roman" panose="02020603050405020304" pitchFamily="18" charset="0"/>
              <a:cs typeface="Times New Roman" panose="02020603050405020304" pitchFamily="18" charset="0"/>
            </a:endParaRPr>
          </a:p>
        </p:txBody>
      </p:sp>
      <p:sp>
        <p:nvSpPr>
          <p:cNvPr id="9" name="Text 5"/>
          <p:cNvSpPr/>
          <p:nvPr/>
        </p:nvSpPr>
        <p:spPr>
          <a:xfrm>
            <a:off x="6067306" y="4256631"/>
            <a:ext cx="3338989" cy="95261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Dependable security systems ensure customer confidence and long-term business relationships.</a:t>
            </a:r>
            <a:endParaRPr lang="en-US" sz="200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9654302" y="3660009"/>
            <a:ext cx="595313" cy="595313"/>
          </a:xfrm>
          <a:prstGeom prst="rect">
            <a:avLst/>
          </a:prstGeom>
        </p:spPr>
      </p:pic>
      <p:sp>
        <p:nvSpPr>
          <p:cNvPr id="11" name="Text 6"/>
          <p:cNvSpPr/>
          <p:nvPr/>
        </p:nvSpPr>
        <p:spPr>
          <a:xfrm>
            <a:off x="10497622" y="3827410"/>
            <a:ext cx="3148727"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Long-term Sustainability</a:t>
            </a:r>
            <a:endParaRPr lang="en-US" sz="2000" b="1" dirty="0">
              <a:latin typeface="Times New Roman" panose="02020603050405020304" pitchFamily="18" charset="0"/>
              <a:cs typeface="Times New Roman" panose="02020603050405020304" pitchFamily="18" charset="0"/>
            </a:endParaRPr>
          </a:p>
        </p:txBody>
      </p:sp>
      <p:sp>
        <p:nvSpPr>
          <p:cNvPr id="12" name="Text 7"/>
          <p:cNvSpPr/>
          <p:nvPr/>
        </p:nvSpPr>
        <p:spPr>
          <a:xfrm>
            <a:off x="10497622" y="4256631"/>
            <a:ext cx="3338989" cy="95261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Security investments protect business continuity and enable sustainable operations.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91070"/>
            <a:ext cx="11005304"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Internal Factors Affecting Software Security</a:t>
            </a:r>
            <a:endParaRPr lang="en-US" sz="3900" dirty="0">
              <a:latin typeface="Times New Roman" panose="02020603050405020304" pitchFamily="18" charset="0"/>
              <a:cs typeface="Times New Roman" panose="02020603050405020304" pitchFamily="18" charset="0"/>
            </a:endParaRPr>
          </a:p>
        </p:txBody>
      </p:sp>
      <p:sp>
        <p:nvSpPr>
          <p:cNvPr id="4" name="Text 2"/>
          <p:cNvSpPr/>
          <p:nvPr/>
        </p:nvSpPr>
        <p:spPr>
          <a:xfrm>
            <a:off x="675456" y="3766304"/>
            <a:ext cx="2940725" cy="310158"/>
          </a:xfrm>
          <a:prstGeom prst="rect">
            <a:avLst/>
          </a:prstGeom>
          <a:noFill/>
          <a:ln/>
        </p:spPr>
        <p:txBody>
          <a:bodyPr wrap="none" lIns="0" tIns="0" rIns="0" bIns="0" rtlCol="0" anchor="t"/>
          <a:lstStyle/>
          <a:p>
            <a:pPr marL="0" indent="0" algn="l">
              <a:lnSpc>
                <a:spcPts val="2400"/>
              </a:lnSpc>
              <a:buNone/>
            </a:pPr>
            <a:r>
              <a:rPr lang="en-US" sz="2400" b="1" dirty="0">
                <a:solidFill>
                  <a:srgbClr val="1D1D1B"/>
                </a:solidFill>
                <a:latin typeface="Times New Roman" panose="02020603050405020304" pitchFamily="18" charset="0"/>
                <a:ea typeface="Tomorrow Semi Bold" pitchFamily="34" charset="-122"/>
                <a:cs typeface="Times New Roman" panose="02020603050405020304" pitchFamily="18" charset="0"/>
              </a:rPr>
              <a:t>Design-Based Qualities</a:t>
            </a:r>
            <a:endParaRPr lang="en-US" sz="2400" b="1" dirty="0">
              <a:latin typeface="Times New Roman" panose="02020603050405020304" pitchFamily="18" charset="0"/>
              <a:cs typeface="Times New Roman" panose="02020603050405020304" pitchFamily="18" charset="0"/>
            </a:endParaRPr>
          </a:p>
        </p:txBody>
      </p:sp>
      <p:sp>
        <p:nvSpPr>
          <p:cNvPr id="5" name="Text 3"/>
          <p:cNvSpPr/>
          <p:nvPr/>
        </p:nvSpPr>
        <p:spPr>
          <a:xfrm>
            <a:off x="675456" y="4274820"/>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Availability</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675456" y="4661773"/>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Integrity</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675456" y="5048726"/>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Confidentiality</a:t>
            </a:r>
            <a:endParaRPr lang="en-US" sz="2400" dirty="0">
              <a:latin typeface="Times New Roman" panose="02020603050405020304" pitchFamily="18" charset="0"/>
              <a:cs typeface="Times New Roman" panose="02020603050405020304" pitchFamily="18" charset="0"/>
            </a:endParaRPr>
          </a:p>
        </p:txBody>
      </p:sp>
      <p:sp>
        <p:nvSpPr>
          <p:cNvPr id="8" name="Text 6"/>
          <p:cNvSpPr/>
          <p:nvPr/>
        </p:nvSpPr>
        <p:spPr>
          <a:xfrm>
            <a:off x="675456" y="5435679"/>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Durability</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5146848" y="3766304"/>
            <a:ext cx="2480905" cy="310158"/>
          </a:xfrm>
          <a:prstGeom prst="rect">
            <a:avLst/>
          </a:prstGeom>
          <a:noFill/>
          <a:ln/>
        </p:spPr>
        <p:txBody>
          <a:bodyPr wrap="none" lIns="0" tIns="0" rIns="0" bIns="0" rtlCol="0" anchor="t"/>
          <a:lstStyle/>
          <a:p>
            <a:pPr marL="0" indent="0" algn="l">
              <a:lnSpc>
                <a:spcPts val="2400"/>
              </a:lnSpc>
              <a:buNone/>
            </a:pPr>
            <a:r>
              <a:rPr lang="en-US" sz="2400" b="1" dirty="0">
                <a:solidFill>
                  <a:srgbClr val="1D1D1B"/>
                </a:solidFill>
                <a:latin typeface="Times New Roman" panose="02020603050405020304" pitchFamily="18" charset="0"/>
                <a:ea typeface="Tomorrow Semi Bold" pitchFamily="34" charset="-122"/>
                <a:cs typeface="Times New Roman" panose="02020603050405020304" pitchFamily="18" charset="0"/>
              </a:rPr>
              <a:t>Code-Level Issues</a:t>
            </a:r>
            <a:endParaRPr lang="en-US" sz="2400" b="1" dirty="0">
              <a:latin typeface="Times New Roman" panose="02020603050405020304" pitchFamily="18" charset="0"/>
              <a:cs typeface="Times New Roman" panose="02020603050405020304" pitchFamily="18" charset="0"/>
            </a:endParaRPr>
          </a:p>
        </p:txBody>
      </p:sp>
      <p:sp>
        <p:nvSpPr>
          <p:cNvPr id="10" name="Text 8"/>
          <p:cNvSpPr/>
          <p:nvPr/>
        </p:nvSpPr>
        <p:spPr>
          <a:xfrm>
            <a:off x="5146848" y="4274820"/>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Error code lines</a:t>
            </a:r>
            <a:endParaRPr lang="en-US" sz="2400" dirty="0">
              <a:latin typeface="Times New Roman" panose="02020603050405020304" pitchFamily="18" charset="0"/>
              <a:cs typeface="Times New Roman" panose="02020603050405020304" pitchFamily="18" charset="0"/>
            </a:endParaRPr>
          </a:p>
        </p:txBody>
      </p:sp>
      <p:sp>
        <p:nvSpPr>
          <p:cNvPr id="11" name="Text 9"/>
          <p:cNvSpPr/>
          <p:nvPr/>
        </p:nvSpPr>
        <p:spPr>
          <a:xfrm>
            <a:off x="5146848" y="4661773"/>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Wrong API calls</a:t>
            </a:r>
            <a:endParaRPr lang="en-US" sz="2400" dirty="0">
              <a:latin typeface="Times New Roman" panose="02020603050405020304" pitchFamily="18" charset="0"/>
              <a:cs typeface="Times New Roman" panose="02020603050405020304" pitchFamily="18" charset="0"/>
            </a:endParaRPr>
          </a:p>
        </p:txBody>
      </p:sp>
      <p:sp>
        <p:nvSpPr>
          <p:cNvPr id="12" name="Text 10"/>
          <p:cNvSpPr/>
          <p:nvPr/>
        </p:nvSpPr>
        <p:spPr>
          <a:xfrm>
            <a:off x="5146848" y="5048726"/>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Access management flaws</a:t>
            </a:r>
            <a:endParaRPr lang="en-US" sz="2400" dirty="0">
              <a:latin typeface="Times New Roman" panose="02020603050405020304" pitchFamily="18" charset="0"/>
              <a:cs typeface="Times New Roman" panose="02020603050405020304" pitchFamily="18" charset="0"/>
            </a:endParaRPr>
          </a:p>
        </p:txBody>
      </p:sp>
      <p:sp>
        <p:nvSpPr>
          <p:cNvPr id="13" name="Text 11"/>
          <p:cNvSpPr/>
          <p:nvPr/>
        </p:nvSpPr>
        <p:spPr>
          <a:xfrm>
            <a:off x="5146848" y="5435679"/>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Logic errors</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9618240" y="3766304"/>
            <a:ext cx="2480905" cy="310158"/>
          </a:xfrm>
          <a:prstGeom prst="rect">
            <a:avLst/>
          </a:prstGeom>
          <a:noFill/>
          <a:ln/>
        </p:spPr>
        <p:txBody>
          <a:bodyPr wrap="none" lIns="0" tIns="0" rIns="0" bIns="0" rtlCol="0" anchor="t"/>
          <a:lstStyle/>
          <a:p>
            <a:pPr marL="0" indent="0" algn="l">
              <a:lnSpc>
                <a:spcPts val="2400"/>
              </a:lnSpc>
              <a:buNone/>
            </a:pPr>
            <a:r>
              <a:rPr lang="en-US" sz="2400" b="1" dirty="0">
                <a:solidFill>
                  <a:srgbClr val="1D1D1B"/>
                </a:solidFill>
                <a:latin typeface="Times New Roman" panose="02020603050405020304" pitchFamily="18" charset="0"/>
                <a:ea typeface="Tomorrow Semi Bold" pitchFamily="34" charset="-122"/>
                <a:cs typeface="Times New Roman" panose="02020603050405020304" pitchFamily="18" charset="0"/>
              </a:rPr>
              <a:t>System Properties</a:t>
            </a:r>
            <a:endParaRPr lang="en-US" sz="2400" b="1" dirty="0">
              <a:latin typeface="Times New Roman" panose="02020603050405020304" pitchFamily="18" charset="0"/>
              <a:cs typeface="Times New Roman" panose="02020603050405020304" pitchFamily="18" charset="0"/>
            </a:endParaRPr>
          </a:p>
        </p:txBody>
      </p:sp>
      <p:sp>
        <p:nvSpPr>
          <p:cNvPr id="15" name="Text 13"/>
          <p:cNvSpPr/>
          <p:nvPr/>
        </p:nvSpPr>
        <p:spPr>
          <a:xfrm>
            <a:off x="9618240" y="4274820"/>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Scalability</a:t>
            </a:r>
            <a:endParaRPr lang="en-US" sz="2400" dirty="0">
              <a:latin typeface="Times New Roman" panose="02020603050405020304" pitchFamily="18" charset="0"/>
              <a:cs typeface="Times New Roman" panose="02020603050405020304" pitchFamily="18" charset="0"/>
            </a:endParaRPr>
          </a:p>
        </p:txBody>
      </p:sp>
      <p:sp>
        <p:nvSpPr>
          <p:cNvPr id="16" name="Text 14"/>
          <p:cNvSpPr/>
          <p:nvPr/>
        </p:nvSpPr>
        <p:spPr>
          <a:xfrm>
            <a:off x="9618240" y="4661773"/>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Compatibility</a:t>
            </a:r>
            <a:endParaRPr lang="en-US" sz="2400" dirty="0">
              <a:latin typeface="Times New Roman" panose="02020603050405020304" pitchFamily="18" charset="0"/>
              <a:cs typeface="Times New Roman" panose="02020603050405020304" pitchFamily="18" charset="0"/>
            </a:endParaRPr>
          </a:p>
        </p:txBody>
      </p:sp>
      <p:sp>
        <p:nvSpPr>
          <p:cNvPr id="17" name="Text 15"/>
          <p:cNvSpPr/>
          <p:nvPr/>
        </p:nvSpPr>
        <p:spPr>
          <a:xfrm>
            <a:off x="9618240" y="5048726"/>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Maintainability</a:t>
            </a:r>
            <a:endParaRPr lang="en-US" sz="2400" dirty="0">
              <a:latin typeface="Times New Roman" panose="02020603050405020304" pitchFamily="18" charset="0"/>
              <a:cs typeface="Times New Roman" panose="02020603050405020304" pitchFamily="18" charset="0"/>
            </a:endParaRPr>
          </a:p>
        </p:txBody>
      </p:sp>
      <p:sp>
        <p:nvSpPr>
          <p:cNvPr id="18" name="Text 16"/>
          <p:cNvSpPr/>
          <p:nvPr/>
        </p:nvSpPr>
        <p:spPr>
          <a:xfrm>
            <a:off x="9618240" y="5435679"/>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61615C"/>
                </a:solidFill>
                <a:latin typeface="Times New Roman" panose="02020603050405020304" pitchFamily="18" charset="0"/>
                <a:ea typeface="Tomorrow" pitchFamily="34" charset="-122"/>
                <a:cs typeface="Times New Roman" panose="02020603050405020304" pitchFamily="18" charset="0"/>
              </a:rPr>
              <a:t>Performance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48020"/>
            <a:ext cx="9256395"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Real-World Security Breach Example</a:t>
            </a:r>
            <a:endParaRPr lang="en-US" sz="3900" dirty="0">
              <a:latin typeface="Times New Roman" panose="02020603050405020304" pitchFamily="18" charset="0"/>
              <a:cs typeface="Times New Roman" panose="02020603050405020304" pitchFamily="18" charset="0"/>
            </a:endParaRPr>
          </a:p>
        </p:txBody>
      </p:sp>
      <p:sp>
        <p:nvSpPr>
          <p:cNvPr id="3" name="Text 1"/>
          <p:cNvSpPr/>
          <p:nvPr/>
        </p:nvSpPr>
        <p:spPr>
          <a:xfrm>
            <a:off x="793790" y="3438028"/>
            <a:ext cx="12745164" cy="952619"/>
          </a:xfrm>
          <a:prstGeom prst="rect">
            <a:avLst/>
          </a:prstGeom>
          <a:noFill/>
          <a:ln/>
        </p:spPr>
        <p:txBody>
          <a:bodyPr wrap="square" lIns="0" tIns="0" rIns="0" bIns="0" rtlCol="0" anchor="t"/>
          <a:lstStyle/>
          <a:p>
            <a:pPr marL="342900" indent="-342900" algn="l">
              <a:buFont typeface="Arial" panose="020B0604020202020204" pitchFamily="34" charset="0"/>
              <a:buChar char="•"/>
            </a:pPr>
            <a:r>
              <a:rPr lang="en-US" sz="2000" dirty="0">
                <a:latin typeface="Times New Roman" panose="02020603050405020304" pitchFamily="18" charset="0"/>
                <a:ea typeface="Tomorrow" pitchFamily="34" charset="-122"/>
                <a:cs typeface="Times New Roman" panose="02020603050405020304" pitchFamily="18" charset="0"/>
              </a:rPr>
              <a:t>Consider a bank software scenario where access management allows a cashier to access loan documents that are confidential property. When the cashier needs to fetch financial document information related to client A, it becomes easy to extract information and use it for personal benefit without proper authorization.</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793790" y="4987738"/>
            <a:ext cx="13042821" cy="635079"/>
          </a:xfrm>
          <a:prstGeom prst="rect">
            <a:avLst/>
          </a:prstGeom>
          <a:noFill/>
          <a:ln/>
        </p:spPr>
        <p:txBody>
          <a:bodyPr wrap="square" lIns="0" tIns="0" rIns="0" bIns="0" rtlCol="0" anchor="t"/>
          <a:lstStyle/>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type of situation creates a data breach situation for banks. It demonstrates how internal flaws in access management can lead to serious security compromises, highlighting the critical importance of proper role-based access controls.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21043" y="495657"/>
            <a:ext cx="2025968" cy="338733"/>
          </a:xfrm>
          <a:prstGeom prst="roundRect">
            <a:avLst>
              <a:gd name="adj" fmla="val 6387"/>
            </a:avLst>
          </a:prstGeom>
          <a:solidFill>
            <a:srgbClr val="E6E6E5"/>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9151" y="592931"/>
            <a:ext cx="144185" cy="144185"/>
          </a:xfrm>
          <a:prstGeom prst="rect">
            <a:avLst/>
          </a:prstGeom>
        </p:spPr>
      </p:pic>
      <p:sp>
        <p:nvSpPr>
          <p:cNvPr id="4" name="Text 1"/>
          <p:cNvSpPr/>
          <p:nvPr/>
        </p:nvSpPr>
        <p:spPr>
          <a:xfrm>
            <a:off x="1045369" y="549712"/>
            <a:ext cx="1593533" cy="230624"/>
          </a:xfrm>
          <a:prstGeom prst="rect">
            <a:avLst/>
          </a:prstGeom>
          <a:noFill/>
          <a:ln/>
        </p:spPr>
        <p:txBody>
          <a:bodyPr wrap="none" lIns="0" tIns="0" rIns="0" bIns="0" rtlCol="0" anchor="t"/>
          <a:lstStyle/>
          <a:p>
            <a:pPr marL="0" indent="0" algn="l">
              <a:lnSpc>
                <a:spcPts val="1800"/>
              </a:lnSpc>
              <a:buNone/>
            </a:pPr>
            <a:r>
              <a:rPr lang="en-US" sz="1100" dirty="0">
                <a:solidFill>
                  <a:srgbClr val="61615C"/>
                </a:solidFill>
                <a:latin typeface="Times New Roman" panose="02020603050405020304" pitchFamily="18" charset="0"/>
                <a:ea typeface="Tomorrow" pitchFamily="34" charset="-122"/>
                <a:cs typeface="Times New Roman" panose="02020603050405020304" pitchFamily="18" charset="0"/>
              </a:rPr>
              <a:t>TRINITY OF PROBLEMS</a:t>
            </a:r>
            <a:endParaRPr lang="en-US" sz="1100" dirty="0">
              <a:latin typeface="Times New Roman" panose="02020603050405020304" pitchFamily="18" charset="0"/>
              <a:cs typeface="Times New Roman" panose="02020603050405020304" pitchFamily="18" charset="0"/>
            </a:endParaRPr>
          </a:p>
        </p:txBody>
      </p:sp>
      <p:sp>
        <p:nvSpPr>
          <p:cNvPr id="5" name="Text 2"/>
          <p:cNvSpPr/>
          <p:nvPr/>
        </p:nvSpPr>
        <p:spPr>
          <a:xfrm>
            <a:off x="721043" y="906423"/>
            <a:ext cx="7496889" cy="563285"/>
          </a:xfrm>
          <a:prstGeom prst="rect">
            <a:avLst/>
          </a:prstGeom>
          <a:noFill/>
          <a:ln/>
        </p:spPr>
        <p:txBody>
          <a:bodyPr wrap="none" lIns="0" tIns="0" rIns="0" bIns="0" rtlCol="0" anchor="t"/>
          <a:lstStyle/>
          <a:p>
            <a:pPr marL="0" indent="0" algn="l">
              <a:lnSpc>
                <a:spcPts val="4400"/>
              </a:lnSpc>
              <a:buNone/>
            </a:pPr>
            <a:r>
              <a:rPr lang="en-US" sz="3500" dirty="0">
                <a:solidFill>
                  <a:srgbClr val="1D1D1B"/>
                </a:solidFill>
                <a:latin typeface="Times New Roman" panose="02020603050405020304" pitchFamily="18" charset="0"/>
                <a:ea typeface="Tomorrow Semi Bold" pitchFamily="34" charset="-122"/>
                <a:cs typeface="Times New Roman" panose="02020603050405020304" pitchFamily="18" charset="0"/>
              </a:rPr>
              <a:t>The Three Major Security Threats</a:t>
            </a:r>
            <a:endParaRPr lang="en-US" sz="3500" dirty="0">
              <a:latin typeface="Times New Roman" panose="02020603050405020304" pitchFamily="18" charset="0"/>
              <a:cs typeface="Times New Roman" panose="02020603050405020304" pitchFamily="18" charset="0"/>
            </a:endParaRPr>
          </a:p>
        </p:txBody>
      </p:sp>
      <p:sp>
        <p:nvSpPr>
          <p:cNvPr id="7" name="Text 4"/>
          <p:cNvSpPr/>
          <p:nvPr/>
        </p:nvSpPr>
        <p:spPr>
          <a:xfrm>
            <a:off x="1557217" y="3631108"/>
            <a:ext cx="2253377" cy="281702"/>
          </a:xfrm>
          <a:prstGeom prst="rect">
            <a:avLst/>
          </a:prstGeom>
          <a:noFill/>
          <a:ln/>
        </p:spPr>
        <p:txBody>
          <a:bodyPr wrap="none" lIns="0" tIns="0" rIns="0" bIns="0" rtlCol="0" anchor="t"/>
          <a:lstStyle/>
          <a:p>
            <a:pPr marL="0" indent="0" algn="ctr">
              <a:lnSpc>
                <a:spcPts val="22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Connectivity</a:t>
            </a:r>
            <a:endParaRPr lang="en-US" sz="2000" b="1" dirty="0">
              <a:latin typeface="Times New Roman" panose="02020603050405020304" pitchFamily="18" charset="0"/>
              <a:cs typeface="Times New Roman" panose="02020603050405020304" pitchFamily="18" charset="0"/>
            </a:endParaRPr>
          </a:p>
        </p:txBody>
      </p:sp>
      <p:sp>
        <p:nvSpPr>
          <p:cNvPr id="8" name="Text 5"/>
          <p:cNvSpPr/>
          <p:nvPr/>
        </p:nvSpPr>
        <p:spPr>
          <a:xfrm>
            <a:off x="721042" y="4006859"/>
            <a:ext cx="3925729" cy="865108"/>
          </a:xfrm>
          <a:prstGeom prst="rect">
            <a:avLst/>
          </a:prstGeom>
          <a:noFill/>
          <a:ln/>
        </p:spPr>
        <p:txBody>
          <a:bodyPr wrap="square" lIns="0" tIns="0" rIns="0" bIns="0" rtlCol="0" anchor="t"/>
          <a:lstStyle/>
          <a:p>
            <a:pPr marL="0" indent="0" algn="ctr">
              <a:lnSpc>
                <a:spcPts val="225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The interconnection of systems through networks creates multiple attack vectors and increases vulnerability exposure.</a:t>
            </a:r>
            <a:endParaRPr lang="en-US" sz="2000" dirty="0">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r:embed="rId5"/>
          <a:stretch>
            <a:fillRect/>
          </a:stretch>
        </p:blipFill>
        <p:spPr>
          <a:xfrm>
            <a:off x="5007292" y="1936600"/>
            <a:ext cx="4615815" cy="4615815"/>
          </a:xfrm>
          <a:prstGeom prst="rect">
            <a:avLst/>
          </a:prstGeom>
        </p:spPr>
      </p:pic>
      <p:pic>
        <p:nvPicPr>
          <p:cNvPr id="10"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5564802" y="4109669"/>
            <a:ext cx="269677" cy="269677"/>
          </a:xfrm>
          <a:prstGeom prst="rect">
            <a:avLst/>
          </a:prstGeom>
        </p:spPr>
      </p:pic>
      <p:sp>
        <p:nvSpPr>
          <p:cNvPr id="11" name="Text 6"/>
          <p:cNvSpPr/>
          <p:nvPr/>
        </p:nvSpPr>
        <p:spPr>
          <a:xfrm>
            <a:off x="11248961" y="2395467"/>
            <a:ext cx="2253377" cy="281702"/>
          </a:xfrm>
          <a:prstGeom prst="rect">
            <a:avLst/>
          </a:prstGeom>
          <a:noFill/>
          <a:ln/>
        </p:spPr>
        <p:txBody>
          <a:bodyPr wrap="none" lIns="0" tIns="0" rIns="0" bIns="0" rtlCol="0" anchor="t"/>
          <a:lstStyle/>
          <a:p>
            <a:pPr marL="0" indent="0" algn="l">
              <a:lnSpc>
                <a:spcPts val="2200"/>
              </a:lnSpc>
              <a:buNone/>
            </a:pPr>
            <a:endParaRPr lang="en-US" sz="2000" b="1" dirty="0">
              <a:latin typeface="Times New Roman" panose="02020603050405020304" pitchFamily="18" charset="0"/>
              <a:cs typeface="Times New Roman" panose="02020603050405020304" pitchFamily="18" charset="0"/>
            </a:endParaRPr>
          </a:p>
        </p:txBody>
      </p:sp>
      <p:sp>
        <p:nvSpPr>
          <p:cNvPr id="12" name="Text 7"/>
          <p:cNvSpPr/>
          <p:nvPr/>
        </p:nvSpPr>
        <p:spPr>
          <a:xfrm>
            <a:off x="9893497" y="2785278"/>
            <a:ext cx="4015859" cy="865108"/>
          </a:xfrm>
          <a:prstGeom prst="rect">
            <a:avLst/>
          </a:prstGeom>
          <a:noFill/>
          <a:ln/>
        </p:spPr>
        <p:txBody>
          <a:bodyPr wrap="square" lIns="0" tIns="0" rIns="0" bIns="0" rtlCol="0" anchor="t"/>
          <a:lstStyle/>
          <a:p>
            <a:pPr marL="0" indent="0" algn="ctr">
              <a:lnSpc>
                <a:spcPts val="2250"/>
              </a:lnSpc>
              <a:buNone/>
            </a:pPr>
            <a:endParaRPr lang="en-US" sz="2000" dirty="0">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nvPicPr>
        <p:blipFill>
          <a:blip r:embed="rId7"/>
          <a:stretch>
            <a:fillRect/>
          </a:stretch>
        </p:blipFill>
        <p:spPr>
          <a:xfrm>
            <a:off x="5007292" y="1936600"/>
            <a:ext cx="4615815" cy="4615815"/>
          </a:xfrm>
          <a:prstGeom prst="rect">
            <a:avLst/>
          </a:prstGeom>
        </p:spPr>
      </p:pic>
      <p:pic>
        <p:nvPicPr>
          <p:cNvPr id="14" name="Image 4" descr="preencoded.png"/>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7988081" y="2710566"/>
            <a:ext cx="269677" cy="269677"/>
          </a:xfrm>
          <a:prstGeom prst="rect">
            <a:avLst/>
          </a:prstGeom>
        </p:spPr>
      </p:pic>
      <p:sp>
        <p:nvSpPr>
          <p:cNvPr id="15" name="Text 8"/>
          <p:cNvSpPr/>
          <p:nvPr/>
        </p:nvSpPr>
        <p:spPr>
          <a:xfrm>
            <a:off x="11248960" y="4901803"/>
            <a:ext cx="2253377" cy="281702"/>
          </a:xfrm>
          <a:prstGeom prst="rect">
            <a:avLst/>
          </a:prstGeom>
          <a:noFill/>
          <a:ln/>
        </p:spPr>
        <p:txBody>
          <a:bodyPr wrap="none" lIns="0" tIns="0" rIns="0" bIns="0" rtlCol="0" anchor="t"/>
          <a:lstStyle/>
          <a:p>
            <a:pPr marL="0" indent="0" algn="l">
              <a:lnSpc>
                <a:spcPts val="22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Complexity</a:t>
            </a:r>
            <a:endParaRPr lang="en-US" sz="2000" b="1" dirty="0">
              <a:latin typeface="Times New Roman" panose="02020603050405020304" pitchFamily="18" charset="0"/>
              <a:cs typeface="Times New Roman" panose="02020603050405020304" pitchFamily="18" charset="0"/>
            </a:endParaRPr>
          </a:p>
        </p:txBody>
      </p:sp>
      <p:sp>
        <p:nvSpPr>
          <p:cNvPr id="16" name="Text 9"/>
          <p:cNvSpPr/>
          <p:nvPr/>
        </p:nvSpPr>
        <p:spPr>
          <a:xfrm>
            <a:off x="9893497" y="5228321"/>
            <a:ext cx="4015859" cy="865108"/>
          </a:xfrm>
          <a:prstGeom prst="rect">
            <a:avLst/>
          </a:prstGeom>
          <a:noFill/>
          <a:ln/>
        </p:spPr>
        <p:txBody>
          <a:bodyPr wrap="square" lIns="0" tIns="0" rIns="0" bIns="0" rtlCol="0" anchor="t"/>
          <a:lstStyle/>
          <a:p>
            <a:pPr marL="0" indent="0" algn="ctr">
              <a:lnSpc>
                <a:spcPts val="225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Increasing system complexity makes it difficult to identify and address security vulnerabilities effectively.</a:t>
            </a:r>
            <a:endParaRPr lang="en-US" sz="2000" dirty="0">
              <a:latin typeface="Times New Roman" panose="02020603050405020304" pitchFamily="18" charset="0"/>
              <a:cs typeface="Times New Roman" panose="02020603050405020304" pitchFamily="18" charset="0"/>
            </a:endParaRPr>
          </a:p>
        </p:txBody>
      </p:sp>
      <p:pic>
        <p:nvPicPr>
          <p:cNvPr id="17" name="Image 5" descr="preencoded.png"/>
          <p:cNvPicPr>
            <a:picLocks noChangeAspect="1"/>
          </p:cNvPicPr>
          <p:nvPr/>
        </p:nvPicPr>
        <p:blipFill>
          <a:blip r:embed="rId9"/>
          <a:stretch>
            <a:fillRect/>
          </a:stretch>
        </p:blipFill>
        <p:spPr>
          <a:xfrm>
            <a:off x="5007292" y="1936600"/>
            <a:ext cx="4615815" cy="4615815"/>
          </a:xfrm>
          <a:prstGeom prst="rect">
            <a:avLst/>
          </a:prstGeom>
        </p:spPr>
      </p:pic>
      <p:pic>
        <p:nvPicPr>
          <p:cNvPr id="18" name="Image 6" descr="preencoded.png"/>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7988081" y="5508654"/>
            <a:ext cx="269677" cy="269677"/>
          </a:xfrm>
          <a:prstGeom prst="rect">
            <a:avLst/>
          </a:prstGeom>
        </p:spPr>
      </p:pic>
      <p:sp>
        <p:nvSpPr>
          <p:cNvPr id="6" name="Rectangle 5">
            <a:extLst>
              <a:ext uri="{FF2B5EF4-FFF2-40B4-BE49-F238E27FC236}">
                <a16:creationId xmlns:a16="http://schemas.microsoft.com/office/drawing/2014/main" id="{E673F9CE-9D81-4783-A89A-63C86AA4D786}"/>
              </a:ext>
            </a:extLst>
          </p:cNvPr>
          <p:cNvSpPr/>
          <p:nvPr/>
        </p:nvSpPr>
        <p:spPr>
          <a:xfrm>
            <a:off x="8929400" y="1523526"/>
            <a:ext cx="4979956" cy="984885"/>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Extensibility</a:t>
            </a:r>
            <a:r>
              <a:rPr lang="en-US" dirty="0">
                <a:latin typeface="Times New Roman" panose="02020603050405020304" pitchFamily="18" charset="0"/>
                <a:cs typeface="Times New Roman" panose="02020603050405020304" pitchFamily="18" charset="0"/>
              </a:rPr>
              <a:t> </a:t>
            </a:r>
          </a:p>
          <a:p>
            <a:pPr algn="ctr"/>
            <a:r>
              <a:rPr lang="en-US" sz="2000" dirty="0">
                <a:solidFill>
                  <a:srgbClr val="61615C"/>
                </a:solidFill>
                <a:latin typeface="Times New Roman" panose="02020603050405020304" pitchFamily="18" charset="0"/>
                <a:cs typeface="Times New Roman" panose="02020603050405020304" pitchFamily="18" charset="0"/>
              </a:rPr>
              <a:t>Extend and modify software introduces compatibility issues and potential security gaps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684133"/>
            <a:ext cx="8746927"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Connectivity and Network Security</a:t>
            </a:r>
            <a:endParaRPr lang="en-US" sz="39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793790" y="1701046"/>
            <a:ext cx="992267" cy="1190744"/>
          </a:xfrm>
          <a:prstGeom prst="rect">
            <a:avLst/>
          </a:prstGeom>
        </p:spPr>
      </p:pic>
      <p:sp>
        <p:nvSpPr>
          <p:cNvPr id="4" name="Text 1"/>
          <p:cNvSpPr/>
          <p:nvPr/>
        </p:nvSpPr>
        <p:spPr>
          <a:xfrm>
            <a:off x="1984415" y="1899404"/>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Software Structure</a:t>
            </a:r>
            <a:endParaRPr lang="en-US" sz="2000" b="1" dirty="0">
              <a:latin typeface="Times New Roman" panose="02020603050405020304" pitchFamily="18" charset="0"/>
              <a:cs typeface="Times New Roman" panose="02020603050405020304" pitchFamily="18" charset="0"/>
            </a:endParaRPr>
          </a:p>
        </p:txBody>
      </p:sp>
      <p:sp>
        <p:nvSpPr>
          <p:cNvPr id="5" name="Text 2"/>
          <p:cNvSpPr/>
          <p:nvPr/>
        </p:nvSpPr>
        <p:spPr>
          <a:xfrm>
            <a:off x="1984415" y="2328624"/>
            <a:ext cx="11852196" cy="317540"/>
          </a:xfrm>
          <a:prstGeom prst="rect">
            <a:avLst/>
          </a:prstGeom>
          <a:noFill/>
          <a:ln/>
        </p:spPr>
        <p:txBody>
          <a:bodyPr wrap="non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Connectivity is directly connected to software structure and security, giving working ability to applications.</a:t>
            </a:r>
            <a:endParaRPr lang="en-US" sz="20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793790" y="2891790"/>
            <a:ext cx="992267" cy="1461016"/>
          </a:xfrm>
          <a:prstGeom prst="rect">
            <a:avLst/>
          </a:prstGeom>
        </p:spPr>
      </p:pic>
      <p:sp>
        <p:nvSpPr>
          <p:cNvPr id="7" name="Text 3"/>
          <p:cNvSpPr/>
          <p:nvPr/>
        </p:nvSpPr>
        <p:spPr>
          <a:xfrm>
            <a:off x="1984415" y="3090148"/>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Data Operations</a:t>
            </a:r>
            <a:endParaRPr lang="en-US" sz="2000" b="1" dirty="0">
              <a:latin typeface="Times New Roman" panose="02020603050405020304" pitchFamily="18" charset="0"/>
              <a:cs typeface="Times New Roman" panose="02020603050405020304" pitchFamily="18" charset="0"/>
            </a:endParaRPr>
          </a:p>
        </p:txBody>
      </p:sp>
      <p:sp>
        <p:nvSpPr>
          <p:cNvPr id="8" name="Text 4"/>
          <p:cNvSpPr/>
          <p:nvPr/>
        </p:nvSpPr>
        <p:spPr>
          <a:xfrm>
            <a:off x="1984415" y="3519368"/>
            <a:ext cx="11852196" cy="63507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Through connectivity, applications connect with hosts and users to perform data extraction, storage, processing, and alteration.</a:t>
            </a:r>
            <a:endParaRPr lang="en-US" sz="20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793790" y="4352806"/>
            <a:ext cx="992267" cy="1461016"/>
          </a:xfrm>
          <a:prstGeom prst="rect">
            <a:avLst/>
          </a:prstGeom>
        </p:spPr>
      </p:pic>
      <p:sp>
        <p:nvSpPr>
          <p:cNvPr id="10" name="Text 5"/>
          <p:cNvSpPr/>
          <p:nvPr/>
        </p:nvSpPr>
        <p:spPr>
          <a:xfrm>
            <a:off x="1984415" y="4551164"/>
            <a:ext cx="2920365"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Security Vulnerabilities</a:t>
            </a:r>
            <a:endParaRPr lang="en-US" sz="2000" b="1" dirty="0">
              <a:latin typeface="Times New Roman" panose="02020603050405020304" pitchFamily="18" charset="0"/>
              <a:cs typeface="Times New Roman" panose="02020603050405020304" pitchFamily="18" charset="0"/>
            </a:endParaRPr>
          </a:p>
        </p:txBody>
      </p:sp>
      <p:sp>
        <p:nvSpPr>
          <p:cNvPr id="11" name="Text 6"/>
          <p:cNvSpPr/>
          <p:nvPr/>
        </p:nvSpPr>
        <p:spPr>
          <a:xfrm>
            <a:off x="1984415" y="4980384"/>
            <a:ext cx="11852196" cy="635079"/>
          </a:xfrm>
          <a:prstGeom prst="rect">
            <a:avLst/>
          </a:prstGeom>
          <a:noFill/>
          <a:ln/>
        </p:spPr>
        <p:txBody>
          <a:bodyPr wrap="squar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Issues in connectivity create terrifying situations, mostly related to network security problems that open doors for exploitation.</a:t>
            </a:r>
            <a:endParaRPr lang="en-US" sz="2000" dirty="0">
              <a:latin typeface="Times New Roman" panose="02020603050405020304" pitchFamily="18" charset="0"/>
              <a:cs typeface="Times New Roman" panose="02020603050405020304" pitchFamily="18" charset="0"/>
            </a:endParaRPr>
          </a:p>
        </p:txBody>
      </p:sp>
      <p:pic>
        <p:nvPicPr>
          <p:cNvPr id="12" name="Image 3" descr="preencoded.png"/>
          <p:cNvPicPr>
            <a:picLocks noChangeAspect="1"/>
          </p:cNvPicPr>
          <p:nvPr/>
        </p:nvPicPr>
        <p:blipFill>
          <a:blip r:embed="rId6"/>
          <a:stretch>
            <a:fillRect/>
          </a:stretch>
        </p:blipFill>
        <p:spPr>
          <a:xfrm>
            <a:off x="793790" y="5813822"/>
            <a:ext cx="992267" cy="1190744"/>
          </a:xfrm>
          <a:prstGeom prst="rect">
            <a:avLst/>
          </a:prstGeom>
        </p:spPr>
      </p:pic>
      <p:sp>
        <p:nvSpPr>
          <p:cNvPr id="13" name="Text 7"/>
          <p:cNvSpPr/>
          <p:nvPr/>
        </p:nvSpPr>
        <p:spPr>
          <a:xfrm>
            <a:off x="1984415" y="6012180"/>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Data Availability</a:t>
            </a:r>
            <a:endParaRPr lang="en-US" sz="2000" b="1" dirty="0">
              <a:latin typeface="Times New Roman" panose="02020603050405020304" pitchFamily="18" charset="0"/>
              <a:cs typeface="Times New Roman" panose="02020603050405020304" pitchFamily="18" charset="0"/>
            </a:endParaRPr>
          </a:p>
        </p:txBody>
      </p:sp>
      <p:sp>
        <p:nvSpPr>
          <p:cNvPr id="14" name="Text 8"/>
          <p:cNvSpPr/>
          <p:nvPr/>
        </p:nvSpPr>
        <p:spPr>
          <a:xfrm>
            <a:off x="1984415" y="6441400"/>
            <a:ext cx="11852196" cy="317540"/>
          </a:xfrm>
          <a:prstGeom prst="rect">
            <a:avLst/>
          </a:prstGeom>
          <a:noFill/>
          <a:ln/>
        </p:spPr>
        <p:txBody>
          <a:bodyPr wrap="none" lIns="0" tIns="0" rIns="0" bIns="0" rtlCol="0" anchor="t"/>
          <a:lstStyle/>
          <a:p>
            <a:pPr marL="0" indent="0" algn="l">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Weak network security produces connectivity issues, leading to data availability problems for authorized services.</a:t>
            </a:r>
            <a:endParaRPr lang="en-US" sz="2000" dirty="0">
              <a:latin typeface="Times New Roman" panose="02020603050405020304" pitchFamily="18" charset="0"/>
              <a:cs typeface="Times New Roman" panose="02020603050405020304" pitchFamily="18" charset="0"/>
            </a:endParaRPr>
          </a:p>
        </p:txBody>
      </p:sp>
      <p:sp>
        <p:nvSpPr>
          <p:cNvPr id="15" name="Text 9"/>
          <p:cNvSpPr/>
          <p:nvPr/>
        </p:nvSpPr>
        <p:spPr>
          <a:xfrm>
            <a:off x="793790" y="7227808"/>
            <a:ext cx="13042821" cy="317540"/>
          </a:xfrm>
          <a:prstGeom prst="rect">
            <a:avLst/>
          </a:prstGeom>
          <a:noFill/>
          <a:ln/>
        </p:spPr>
        <p:txBody>
          <a:bodyPr wrap="none" lIns="0" tIns="0" rIns="0" bIns="0" rtlCol="0" anchor="t"/>
          <a:lstStyle/>
          <a:p>
            <a:pPr marL="342900" indent="-342900">
              <a:lnSpc>
                <a:spcPts val="2500"/>
              </a:lnSpc>
              <a:buFont typeface="Arial" panose="020B0604020202020204" pitchFamily="34" charset="0"/>
              <a:buChar char="•"/>
            </a:pPr>
            <a:r>
              <a:rPr lang="en-US" sz="2000" b="1" dirty="0">
                <a:solidFill>
                  <a:srgbClr val="61615C"/>
                </a:solidFill>
                <a:latin typeface="Times New Roman" panose="02020603050405020304" pitchFamily="18" charset="0"/>
                <a:ea typeface="Tomorrow" pitchFamily="34" charset="-122"/>
                <a:cs typeface="Times New Roman" panose="02020603050405020304" pitchFamily="18" charset="0"/>
              </a:rPr>
              <a:t>Connectivity depends on network security</a:t>
            </a:r>
          </a:p>
          <a:p>
            <a:pPr marL="342900" indent="-342900">
              <a:lnSpc>
                <a:spcPts val="2500"/>
              </a:lnSpc>
              <a:buFont typeface="Arial" panose="020B0604020202020204" pitchFamily="34" charset="0"/>
              <a:buChar char="•"/>
            </a:pPr>
            <a:r>
              <a:rPr lang="en-US" sz="2000" b="1" dirty="0">
                <a:solidFill>
                  <a:srgbClr val="61615C"/>
                </a:solidFill>
                <a:latin typeface="Times New Roman" panose="02020603050405020304" pitchFamily="18" charset="0"/>
                <a:ea typeface="Tomorrow" pitchFamily="34" charset="-122"/>
                <a:cs typeface="Times New Roman" panose="02020603050405020304" pitchFamily="18" charset="0"/>
              </a:rPr>
              <a:t>Flaws can lead applications into serious cyber attack situations</a:t>
            </a: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819989"/>
            <a:ext cx="7417237" cy="620078"/>
          </a:xfrm>
          <a:prstGeom prst="rect">
            <a:avLst/>
          </a:prstGeom>
          <a:noFill/>
          <a:ln/>
        </p:spPr>
        <p:txBody>
          <a:bodyPr wrap="none" lIns="0" tIns="0" rIns="0" bIns="0" rtlCol="0" anchor="t"/>
          <a:lstStyle/>
          <a:p>
            <a:pPr>
              <a:lnSpc>
                <a:spcPts val="4850"/>
              </a:lnSpc>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Connectivity and Legacy Systems</a:t>
            </a:r>
          </a:p>
        </p:txBody>
      </p:sp>
      <p:sp>
        <p:nvSpPr>
          <p:cNvPr id="4" name="Shape 2"/>
          <p:cNvSpPr/>
          <p:nvPr/>
        </p:nvSpPr>
        <p:spPr>
          <a:xfrm>
            <a:off x="793790" y="3992880"/>
            <a:ext cx="4215289" cy="1972235"/>
          </a:xfrm>
          <a:prstGeom prst="roundRect">
            <a:avLst>
              <a:gd name="adj" fmla="val 4540"/>
            </a:avLst>
          </a:prstGeom>
          <a:solidFill>
            <a:srgbClr val="FCFCFC"/>
          </a:solidFill>
          <a:ln/>
        </p:spPr>
      </p:sp>
      <p:sp>
        <p:nvSpPr>
          <p:cNvPr id="5" name="Shape 3"/>
          <p:cNvSpPr/>
          <p:nvPr/>
        </p:nvSpPr>
        <p:spPr>
          <a:xfrm>
            <a:off x="793790" y="3970020"/>
            <a:ext cx="4215289" cy="91440"/>
          </a:xfrm>
          <a:prstGeom prst="roundRect">
            <a:avLst>
              <a:gd name="adj" fmla="val 32558"/>
            </a:avLst>
          </a:prstGeom>
          <a:solidFill>
            <a:srgbClr val="1D1D1B"/>
          </a:solidFill>
          <a:ln/>
        </p:spPr>
      </p:sp>
      <p:sp>
        <p:nvSpPr>
          <p:cNvPr id="6" name="Shape 4"/>
          <p:cNvSpPr/>
          <p:nvPr/>
        </p:nvSpPr>
        <p:spPr>
          <a:xfrm>
            <a:off x="2603778" y="3695224"/>
            <a:ext cx="595313" cy="595313"/>
          </a:xfrm>
          <a:prstGeom prst="roundRect">
            <a:avLst>
              <a:gd name="adj" fmla="val 153600"/>
            </a:avLst>
          </a:prstGeom>
          <a:solidFill>
            <a:srgbClr val="1D1D1B"/>
          </a:solidFill>
          <a:ln/>
        </p:spPr>
      </p:sp>
      <p:sp>
        <p:nvSpPr>
          <p:cNvPr id="7" name="Text 5"/>
          <p:cNvSpPr/>
          <p:nvPr/>
        </p:nvSpPr>
        <p:spPr>
          <a:xfrm>
            <a:off x="2782372" y="3844052"/>
            <a:ext cx="238125" cy="297656"/>
          </a:xfrm>
          <a:prstGeom prst="rect">
            <a:avLst/>
          </a:prstGeom>
          <a:noFill/>
          <a:ln/>
        </p:spPr>
        <p:txBody>
          <a:bodyPr wrap="none" lIns="0" tIns="0" rIns="0" bIns="0" rtlCol="0" anchor="t"/>
          <a:lstStyle/>
          <a:p>
            <a:pPr marL="0" indent="0" algn="l">
              <a:lnSpc>
                <a:spcPts val="3000"/>
              </a:lnSpc>
              <a:buNone/>
            </a:pPr>
            <a:r>
              <a:rPr lang="en-US" sz="2000" dirty="0">
                <a:solidFill>
                  <a:srgbClr val="FFFFFF"/>
                </a:solidFill>
                <a:latin typeface="Times New Roman" panose="02020603050405020304" pitchFamily="18" charset="0"/>
                <a:ea typeface="Tomorrow Semi Bold" pitchFamily="34" charset="-122"/>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1015008" y="4918234"/>
            <a:ext cx="3772853" cy="952619"/>
          </a:xfrm>
          <a:prstGeom prst="rect">
            <a:avLst/>
          </a:prstGeom>
          <a:noFill/>
          <a:ln/>
        </p:spPr>
        <p:txBody>
          <a:bodyPr wrap="square" lIns="0" tIns="0" rIns="0" bIns="0" rtlCol="0" anchor="t"/>
          <a:lstStyle/>
          <a:p>
            <a:pPr>
              <a:lnSpc>
                <a:spcPts val="2500"/>
              </a:lnSpc>
            </a:pPr>
            <a:r>
              <a:rPr lang="en-US" sz="2000" dirty="0">
                <a:latin typeface="Times New Roman" panose="02020603050405020304" pitchFamily="18" charset="0"/>
                <a:ea typeface="Tomorrow" pitchFamily="34" charset="-122"/>
                <a:cs typeface="Times New Roman" panose="02020603050405020304" pitchFamily="18" charset="0"/>
              </a:rPr>
              <a:t>Not full support to current standards</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5207437" y="3992880"/>
            <a:ext cx="4215408" cy="2416731"/>
          </a:xfrm>
          <a:prstGeom prst="roundRect">
            <a:avLst>
              <a:gd name="adj" fmla="val 4540"/>
            </a:avLst>
          </a:prstGeom>
          <a:solidFill>
            <a:srgbClr val="FCFCFC"/>
          </a:solidFill>
          <a:ln/>
        </p:spPr>
      </p:sp>
      <p:sp>
        <p:nvSpPr>
          <p:cNvPr id="11" name="Shape 9"/>
          <p:cNvSpPr/>
          <p:nvPr/>
        </p:nvSpPr>
        <p:spPr>
          <a:xfrm>
            <a:off x="5207437" y="3970020"/>
            <a:ext cx="4215408" cy="91440"/>
          </a:xfrm>
          <a:prstGeom prst="roundRect">
            <a:avLst>
              <a:gd name="adj" fmla="val 32558"/>
            </a:avLst>
          </a:prstGeom>
          <a:solidFill>
            <a:srgbClr val="1D1D1B"/>
          </a:solidFill>
          <a:ln/>
        </p:spPr>
      </p:sp>
      <p:sp>
        <p:nvSpPr>
          <p:cNvPr id="12" name="Shape 10"/>
          <p:cNvSpPr/>
          <p:nvPr/>
        </p:nvSpPr>
        <p:spPr>
          <a:xfrm>
            <a:off x="7017425" y="3695224"/>
            <a:ext cx="595313" cy="595313"/>
          </a:xfrm>
          <a:prstGeom prst="roundRect">
            <a:avLst>
              <a:gd name="adj" fmla="val 153600"/>
            </a:avLst>
          </a:prstGeom>
          <a:solidFill>
            <a:srgbClr val="1D1D1B"/>
          </a:solidFill>
          <a:ln/>
        </p:spPr>
      </p:sp>
      <p:sp>
        <p:nvSpPr>
          <p:cNvPr id="13" name="Text 11"/>
          <p:cNvSpPr/>
          <p:nvPr/>
        </p:nvSpPr>
        <p:spPr>
          <a:xfrm>
            <a:off x="7196018" y="3844052"/>
            <a:ext cx="238125" cy="297656"/>
          </a:xfrm>
          <a:prstGeom prst="rect">
            <a:avLst/>
          </a:prstGeom>
          <a:noFill/>
          <a:ln/>
        </p:spPr>
        <p:txBody>
          <a:bodyPr wrap="none" lIns="0" tIns="0" rIns="0" bIns="0" rtlCol="0" anchor="t"/>
          <a:lstStyle/>
          <a:p>
            <a:pPr marL="0" indent="0" algn="l">
              <a:lnSpc>
                <a:spcPts val="3000"/>
              </a:lnSpc>
              <a:buNone/>
            </a:pPr>
            <a:r>
              <a:rPr lang="en-US" sz="2000" dirty="0">
                <a:solidFill>
                  <a:srgbClr val="FFFFFF"/>
                </a:solidFill>
                <a:latin typeface="Times New Roman" panose="02020603050405020304" pitchFamily="18" charset="0"/>
                <a:ea typeface="Tomorrow Semi Bold" pitchFamily="34" charset="-122"/>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5547657" y="4909466"/>
            <a:ext cx="3772972" cy="1270159"/>
          </a:xfrm>
          <a:prstGeom prst="rect">
            <a:avLst/>
          </a:prstGeom>
          <a:noFill/>
          <a:ln/>
        </p:spPr>
        <p:txBody>
          <a:bodyPr wrap="square" lIns="0" tIns="0" rIns="0" bIns="0" rtlCol="0" anchor="t"/>
          <a:lstStyle/>
          <a:p>
            <a:pPr marL="0" indent="0" algn="l">
              <a:lnSpc>
                <a:spcPts val="2500"/>
              </a:lnSpc>
              <a:buNone/>
            </a:pPr>
            <a:r>
              <a:rPr lang="en-US" sz="2000" dirty="0">
                <a:latin typeface="Times New Roman" panose="02020603050405020304" pitchFamily="18" charset="0"/>
                <a:ea typeface="Tomorrow" pitchFamily="34" charset="-122"/>
                <a:cs typeface="Times New Roman" panose="02020603050405020304" pitchFamily="18" charset="0"/>
              </a:rPr>
              <a:t>No proper alignments for application-level protocols.</a:t>
            </a:r>
            <a:endParaRPr lang="en-US" sz="2000" dirty="0">
              <a:latin typeface="Times New Roman" panose="02020603050405020304" pitchFamily="18" charset="0"/>
              <a:cs typeface="Times New Roman" panose="02020603050405020304" pitchFamily="18" charset="0"/>
            </a:endParaRPr>
          </a:p>
        </p:txBody>
      </p:sp>
      <p:sp>
        <p:nvSpPr>
          <p:cNvPr id="16" name="Shape 14"/>
          <p:cNvSpPr/>
          <p:nvPr/>
        </p:nvSpPr>
        <p:spPr>
          <a:xfrm>
            <a:off x="9621203" y="3992880"/>
            <a:ext cx="4215289" cy="2416731"/>
          </a:xfrm>
          <a:prstGeom prst="roundRect">
            <a:avLst>
              <a:gd name="adj" fmla="val 4540"/>
            </a:avLst>
          </a:prstGeom>
          <a:solidFill>
            <a:srgbClr val="FCFCFC"/>
          </a:solidFill>
          <a:ln/>
        </p:spPr>
      </p:sp>
      <p:sp>
        <p:nvSpPr>
          <p:cNvPr id="17" name="Shape 15"/>
          <p:cNvSpPr/>
          <p:nvPr/>
        </p:nvSpPr>
        <p:spPr>
          <a:xfrm>
            <a:off x="9621203" y="3970020"/>
            <a:ext cx="4215289" cy="91440"/>
          </a:xfrm>
          <a:prstGeom prst="roundRect">
            <a:avLst>
              <a:gd name="adj" fmla="val 32558"/>
            </a:avLst>
          </a:prstGeom>
          <a:solidFill>
            <a:srgbClr val="1D1D1B"/>
          </a:solidFill>
          <a:ln/>
        </p:spPr>
      </p:sp>
      <p:sp>
        <p:nvSpPr>
          <p:cNvPr id="18" name="Shape 16"/>
          <p:cNvSpPr/>
          <p:nvPr/>
        </p:nvSpPr>
        <p:spPr>
          <a:xfrm>
            <a:off x="11431191" y="3695224"/>
            <a:ext cx="595313" cy="595313"/>
          </a:xfrm>
          <a:prstGeom prst="roundRect">
            <a:avLst>
              <a:gd name="adj" fmla="val 153600"/>
            </a:avLst>
          </a:prstGeom>
          <a:solidFill>
            <a:srgbClr val="1D1D1B"/>
          </a:solidFill>
          <a:ln/>
        </p:spPr>
      </p:sp>
      <p:sp>
        <p:nvSpPr>
          <p:cNvPr id="19" name="Text 17"/>
          <p:cNvSpPr/>
          <p:nvPr/>
        </p:nvSpPr>
        <p:spPr>
          <a:xfrm>
            <a:off x="11609784" y="3844052"/>
            <a:ext cx="238125" cy="297656"/>
          </a:xfrm>
          <a:prstGeom prst="rect">
            <a:avLst/>
          </a:prstGeom>
          <a:noFill/>
          <a:ln/>
        </p:spPr>
        <p:txBody>
          <a:bodyPr wrap="none" lIns="0" tIns="0" rIns="0" bIns="0" rtlCol="0" anchor="t"/>
          <a:lstStyle/>
          <a:p>
            <a:pPr marL="0" indent="0" algn="l">
              <a:lnSpc>
                <a:spcPts val="3000"/>
              </a:lnSpc>
              <a:buNone/>
            </a:pPr>
            <a:r>
              <a:rPr lang="en-US" sz="2000" dirty="0">
                <a:solidFill>
                  <a:srgbClr val="FFFFFF"/>
                </a:solidFill>
                <a:latin typeface="Times New Roman" panose="02020603050405020304" pitchFamily="18" charset="0"/>
                <a:ea typeface="Tomorrow Semi Bold" pitchFamily="34" charset="-122"/>
                <a:cs typeface="Times New Roman" panose="02020603050405020304" pitchFamily="18" charset="0"/>
              </a:rPr>
              <a:t>3</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9842421" y="4489013"/>
            <a:ext cx="2584728" cy="310158"/>
          </a:xfrm>
          <a:prstGeom prst="rect">
            <a:avLst/>
          </a:prstGeom>
          <a:noFill/>
          <a:ln/>
        </p:spPr>
        <p:txBody>
          <a:bodyPr wrap="none" lIns="0" tIns="0" rIns="0" bIns="0" rtlCol="0" anchor="t"/>
          <a:lstStyle/>
          <a:p>
            <a:pPr marL="0" indent="0" algn="l">
              <a:lnSpc>
                <a:spcPts val="2400"/>
              </a:lnSpc>
              <a:buNone/>
            </a:pPr>
            <a:endParaRPr lang="en-US" sz="2000" b="1" dirty="0">
              <a:latin typeface="Times New Roman" panose="02020603050405020304" pitchFamily="18" charset="0"/>
              <a:cs typeface="Times New Roman" panose="02020603050405020304" pitchFamily="18" charset="0"/>
            </a:endParaRPr>
          </a:p>
        </p:txBody>
      </p:sp>
      <p:sp>
        <p:nvSpPr>
          <p:cNvPr id="21" name="Text 19"/>
          <p:cNvSpPr/>
          <p:nvPr/>
        </p:nvSpPr>
        <p:spPr>
          <a:xfrm>
            <a:off x="9842421" y="4918234"/>
            <a:ext cx="3772853" cy="952619"/>
          </a:xfrm>
          <a:prstGeom prst="rect">
            <a:avLst/>
          </a:prstGeom>
          <a:noFill/>
          <a:ln/>
        </p:spPr>
        <p:txBody>
          <a:bodyPr wrap="square" lIns="0" tIns="0" rIns="0" bIns="0" rtlCol="0" anchor="t"/>
          <a:lstStyle/>
          <a:p>
            <a:pPr>
              <a:lnSpc>
                <a:spcPts val="2500"/>
              </a:lnSpc>
            </a:pPr>
            <a:r>
              <a:rPr lang="en-US" sz="2000" dirty="0">
                <a:latin typeface="Times New Roman" panose="02020603050405020304" pitchFamily="18" charset="0"/>
                <a:ea typeface="Tomorrow" pitchFamily="34" charset="-122"/>
                <a:cs typeface="Times New Roman" panose="02020603050405020304" pitchFamily="18" charset="0"/>
              </a:rPr>
              <a:t>Weak Authentication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664488"/>
            <a:ext cx="8049816"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Challenges of Extensible Design</a:t>
            </a:r>
            <a:endParaRPr lang="en-US" sz="3900" dirty="0">
              <a:latin typeface="Times New Roman" panose="02020603050405020304" pitchFamily="18" charset="0"/>
              <a:cs typeface="Times New Roman" panose="02020603050405020304" pitchFamily="18" charset="0"/>
            </a:endParaRPr>
          </a:p>
        </p:txBody>
      </p:sp>
      <p:sp>
        <p:nvSpPr>
          <p:cNvPr id="3" name="Text 1"/>
          <p:cNvSpPr/>
          <p:nvPr/>
        </p:nvSpPr>
        <p:spPr>
          <a:xfrm>
            <a:off x="793790" y="1670643"/>
            <a:ext cx="13042821" cy="952619"/>
          </a:xfrm>
          <a:prstGeom prst="rect">
            <a:avLst/>
          </a:prstGeom>
          <a:noFill/>
          <a:ln/>
        </p:spPr>
        <p:txBody>
          <a:bodyPr wrap="square" lIns="0" tIns="0" rIns="0" bIns="0" rtlCol="0" anchor="t"/>
          <a:lstStyle/>
          <a:p>
            <a:pPr marL="285750" indent="-285750">
              <a:lnSpc>
                <a:spcPts val="2250"/>
              </a:lnSpc>
              <a:buFont typeface="Arial" panose="020B0604020202020204" pitchFamily="34" charset="0"/>
              <a:buChar char="•"/>
            </a:pPr>
            <a:r>
              <a:rPr lang="en-US" sz="2200" b="1" dirty="0">
                <a:latin typeface="Times New Roman" panose="02020603050405020304" pitchFamily="18" charset="0"/>
                <a:ea typeface="Tomorrow Semi Bold" pitchFamily="34" charset="-122"/>
                <a:cs typeface="Times New Roman" panose="02020603050405020304" pitchFamily="18" charset="0"/>
              </a:rPr>
              <a:t>Extensibility </a:t>
            </a:r>
            <a:r>
              <a:rPr lang="en-US" sz="2200" dirty="0">
                <a:latin typeface="Times New Roman" panose="02020603050405020304" pitchFamily="18" charset="0"/>
                <a:cs typeface="Times New Roman" panose="02020603050405020304" pitchFamily="18" charset="0"/>
              </a:rPr>
              <a:t>the ability to software for extending its properties and uses.</a:t>
            </a:r>
          </a:p>
        </p:txBody>
      </p:sp>
      <p:sp>
        <p:nvSpPr>
          <p:cNvPr id="4" name="Shape 2"/>
          <p:cNvSpPr/>
          <p:nvPr/>
        </p:nvSpPr>
        <p:spPr>
          <a:xfrm>
            <a:off x="793790" y="2857262"/>
            <a:ext cx="4215289" cy="2254687"/>
          </a:xfrm>
          <a:prstGeom prst="roundRect">
            <a:avLst>
              <a:gd name="adj" fmla="val 1320"/>
            </a:avLst>
          </a:prstGeom>
          <a:solidFill>
            <a:srgbClr val="F0EAEA"/>
          </a:solidFill>
          <a:ln/>
        </p:spPr>
      </p:sp>
      <p:sp>
        <p:nvSpPr>
          <p:cNvPr id="5" name="Shape 3"/>
          <p:cNvSpPr/>
          <p:nvPr/>
        </p:nvSpPr>
        <p:spPr>
          <a:xfrm>
            <a:off x="992148" y="3055620"/>
            <a:ext cx="595313" cy="595313"/>
          </a:xfrm>
          <a:prstGeom prst="roundRect">
            <a:avLst>
              <a:gd name="adj" fmla="val 15358451"/>
            </a:avLst>
          </a:prstGeom>
          <a:solidFill>
            <a:srgbClr val="1D1D1B"/>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5859" y="3219212"/>
            <a:ext cx="267891" cy="267891"/>
          </a:xfrm>
          <a:prstGeom prst="rect">
            <a:avLst/>
          </a:prstGeom>
        </p:spPr>
      </p:pic>
      <p:sp>
        <p:nvSpPr>
          <p:cNvPr id="7" name="Text 4"/>
          <p:cNvSpPr/>
          <p:nvPr/>
        </p:nvSpPr>
        <p:spPr>
          <a:xfrm>
            <a:off x="992148" y="3849291"/>
            <a:ext cx="2767608" cy="310158"/>
          </a:xfrm>
          <a:prstGeom prst="rect">
            <a:avLst/>
          </a:prstGeom>
          <a:noFill/>
          <a:ln/>
        </p:spPr>
        <p:txBody>
          <a:bodyPr wrap="none" lIns="0" tIns="0" rIns="0" bIns="0" rtlCol="0" anchor="t"/>
          <a:lstStyle/>
          <a:p>
            <a:pPr marL="0" indent="0" algn="l">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Increased Complexity</a:t>
            </a:r>
            <a:endParaRPr lang="en-US" sz="1950" b="1" dirty="0">
              <a:latin typeface="Times New Roman" panose="02020603050405020304" pitchFamily="18" charset="0"/>
              <a:cs typeface="Times New Roman" panose="02020603050405020304" pitchFamily="18" charset="0"/>
            </a:endParaRPr>
          </a:p>
        </p:txBody>
      </p:sp>
      <p:sp>
        <p:nvSpPr>
          <p:cNvPr id="8" name="Text 5"/>
          <p:cNvSpPr/>
          <p:nvPr/>
        </p:nvSpPr>
        <p:spPr>
          <a:xfrm>
            <a:off x="992148" y="4278511"/>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Extensibility increases software complexity</a:t>
            </a:r>
            <a:endParaRPr lang="en-US" sz="1550" dirty="0">
              <a:latin typeface="Times New Roman" panose="02020603050405020304" pitchFamily="18" charset="0"/>
              <a:cs typeface="Times New Roman" panose="02020603050405020304" pitchFamily="18" charset="0"/>
            </a:endParaRPr>
          </a:p>
        </p:txBody>
      </p:sp>
      <p:sp>
        <p:nvSpPr>
          <p:cNvPr id="9" name="Shape 6"/>
          <p:cNvSpPr/>
          <p:nvPr/>
        </p:nvSpPr>
        <p:spPr>
          <a:xfrm>
            <a:off x="5207437" y="2857262"/>
            <a:ext cx="4215408" cy="2254687"/>
          </a:xfrm>
          <a:prstGeom prst="roundRect">
            <a:avLst>
              <a:gd name="adj" fmla="val 1320"/>
            </a:avLst>
          </a:prstGeom>
          <a:solidFill>
            <a:srgbClr val="F0EAEA"/>
          </a:solidFill>
          <a:ln/>
        </p:spPr>
      </p:sp>
      <p:sp>
        <p:nvSpPr>
          <p:cNvPr id="10" name="Shape 7"/>
          <p:cNvSpPr/>
          <p:nvPr/>
        </p:nvSpPr>
        <p:spPr>
          <a:xfrm>
            <a:off x="5405795" y="3055620"/>
            <a:ext cx="595313" cy="595313"/>
          </a:xfrm>
          <a:prstGeom prst="roundRect">
            <a:avLst>
              <a:gd name="adj" fmla="val 15358451"/>
            </a:avLst>
          </a:prstGeom>
          <a:solidFill>
            <a:srgbClr val="1D1D1B"/>
          </a:solidFill>
          <a:ln/>
        </p:spPr>
      </p:sp>
      <p:pic>
        <p:nvPicPr>
          <p:cNvPr id="11"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569506" y="3219212"/>
            <a:ext cx="267891" cy="267891"/>
          </a:xfrm>
          <a:prstGeom prst="rect">
            <a:avLst/>
          </a:prstGeom>
        </p:spPr>
      </p:pic>
      <p:sp>
        <p:nvSpPr>
          <p:cNvPr id="12" name="Text 8"/>
          <p:cNvSpPr/>
          <p:nvPr/>
        </p:nvSpPr>
        <p:spPr>
          <a:xfrm>
            <a:off x="5405795" y="3849291"/>
            <a:ext cx="2873693" cy="310158"/>
          </a:xfrm>
          <a:prstGeom prst="rect">
            <a:avLst/>
          </a:prstGeom>
          <a:noFill/>
          <a:ln/>
        </p:spPr>
        <p:txBody>
          <a:bodyPr wrap="none" lIns="0" tIns="0" rIns="0" bIns="0" rtlCol="0" anchor="t"/>
          <a:lstStyle/>
          <a:p>
            <a:pPr marL="0" indent="0" algn="l">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Development Difficulty</a:t>
            </a:r>
            <a:endParaRPr lang="en-US" sz="1950" b="1" dirty="0">
              <a:latin typeface="Times New Roman" panose="02020603050405020304" pitchFamily="18" charset="0"/>
              <a:cs typeface="Times New Roman" panose="02020603050405020304" pitchFamily="18" charset="0"/>
            </a:endParaRPr>
          </a:p>
        </p:txBody>
      </p:sp>
      <p:sp>
        <p:nvSpPr>
          <p:cNvPr id="13" name="Text 9"/>
          <p:cNvSpPr/>
          <p:nvPr/>
        </p:nvSpPr>
        <p:spPr>
          <a:xfrm>
            <a:off x="5405795" y="4278511"/>
            <a:ext cx="3818692" cy="635079"/>
          </a:xfrm>
          <a:prstGeom prst="rect">
            <a:avLst/>
          </a:prstGeom>
          <a:noFill/>
          <a:ln/>
        </p:spPr>
        <p:txBody>
          <a:bodyPr wrap="square" lIns="0" tIns="0" rIns="0" bIns="0" rtlCol="0" anchor="t"/>
          <a:lstStyle/>
          <a:p>
            <a:pPr marL="0" indent="0" algn="l">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Provides difficulty for development, testing, and deployment</a:t>
            </a:r>
            <a:endParaRPr lang="en-US" sz="1550" dirty="0">
              <a:latin typeface="Times New Roman" panose="02020603050405020304" pitchFamily="18" charset="0"/>
              <a:cs typeface="Times New Roman" panose="02020603050405020304" pitchFamily="18" charset="0"/>
            </a:endParaRPr>
          </a:p>
        </p:txBody>
      </p:sp>
      <p:sp>
        <p:nvSpPr>
          <p:cNvPr id="14" name="Shape 10"/>
          <p:cNvSpPr/>
          <p:nvPr/>
        </p:nvSpPr>
        <p:spPr>
          <a:xfrm>
            <a:off x="9621203" y="2857262"/>
            <a:ext cx="4215289" cy="2254687"/>
          </a:xfrm>
          <a:prstGeom prst="roundRect">
            <a:avLst>
              <a:gd name="adj" fmla="val 1320"/>
            </a:avLst>
          </a:prstGeom>
          <a:solidFill>
            <a:srgbClr val="F0EAEA"/>
          </a:solidFill>
          <a:ln/>
        </p:spPr>
      </p:sp>
      <p:sp>
        <p:nvSpPr>
          <p:cNvPr id="15" name="Shape 11"/>
          <p:cNvSpPr/>
          <p:nvPr/>
        </p:nvSpPr>
        <p:spPr>
          <a:xfrm>
            <a:off x="9819561" y="3055620"/>
            <a:ext cx="595313" cy="595313"/>
          </a:xfrm>
          <a:prstGeom prst="roundRect">
            <a:avLst>
              <a:gd name="adj" fmla="val 15358451"/>
            </a:avLst>
          </a:prstGeom>
          <a:solidFill>
            <a:srgbClr val="1D1D1B"/>
          </a:solidFill>
          <a:ln/>
        </p:spPr>
      </p:sp>
      <p:pic>
        <p:nvPicPr>
          <p:cNvPr id="16"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9983272" y="3219212"/>
            <a:ext cx="267891" cy="267891"/>
          </a:xfrm>
          <a:prstGeom prst="rect">
            <a:avLst/>
          </a:prstGeom>
        </p:spPr>
      </p:pic>
      <p:sp>
        <p:nvSpPr>
          <p:cNvPr id="17" name="Text 12"/>
          <p:cNvSpPr/>
          <p:nvPr/>
        </p:nvSpPr>
        <p:spPr>
          <a:xfrm>
            <a:off x="9819561" y="384929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Time Consuming</a:t>
            </a:r>
            <a:endParaRPr lang="en-US" sz="1950" b="1" dirty="0">
              <a:latin typeface="Times New Roman" panose="02020603050405020304" pitchFamily="18" charset="0"/>
              <a:cs typeface="Times New Roman" panose="02020603050405020304" pitchFamily="18" charset="0"/>
            </a:endParaRPr>
          </a:p>
        </p:txBody>
      </p:sp>
      <p:sp>
        <p:nvSpPr>
          <p:cNvPr id="18" name="Text 13"/>
          <p:cNvSpPr/>
          <p:nvPr/>
        </p:nvSpPr>
        <p:spPr>
          <a:xfrm>
            <a:off x="9819561" y="4278511"/>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Extensible portions require additional care and extra implementation time</a:t>
            </a:r>
            <a:endParaRPr lang="en-US" sz="1550" dirty="0">
              <a:latin typeface="Times New Roman" panose="02020603050405020304" pitchFamily="18" charset="0"/>
              <a:cs typeface="Times New Roman" panose="02020603050405020304" pitchFamily="18" charset="0"/>
            </a:endParaRPr>
          </a:p>
        </p:txBody>
      </p:sp>
      <p:sp>
        <p:nvSpPr>
          <p:cNvPr id="19" name="Shape 14"/>
          <p:cNvSpPr/>
          <p:nvPr/>
        </p:nvSpPr>
        <p:spPr>
          <a:xfrm>
            <a:off x="793790" y="5310307"/>
            <a:ext cx="6422112" cy="2254687"/>
          </a:xfrm>
          <a:prstGeom prst="roundRect">
            <a:avLst>
              <a:gd name="adj" fmla="val 1320"/>
            </a:avLst>
          </a:prstGeom>
          <a:solidFill>
            <a:srgbClr val="F0EAEA"/>
          </a:solidFill>
          <a:ln/>
        </p:spPr>
      </p:sp>
      <p:sp>
        <p:nvSpPr>
          <p:cNvPr id="20" name="Shape 15"/>
          <p:cNvSpPr/>
          <p:nvPr/>
        </p:nvSpPr>
        <p:spPr>
          <a:xfrm>
            <a:off x="992148" y="5508665"/>
            <a:ext cx="595313" cy="595313"/>
          </a:xfrm>
          <a:prstGeom prst="roundRect">
            <a:avLst>
              <a:gd name="adj" fmla="val 15358451"/>
            </a:avLst>
          </a:prstGeom>
          <a:solidFill>
            <a:srgbClr val="1D1D1B"/>
          </a:solidFill>
          <a:ln/>
        </p:spPr>
      </p:sp>
      <p:pic>
        <p:nvPicPr>
          <p:cNvPr id="21"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1155859" y="5672257"/>
            <a:ext cx="267891" cy="267891"/>
          </a:xfrm>
          <a:prstGeom prst="rect">
            <a:avLst/>
          </a:prstGeom>
        </p:spPr>
      </p:pic>
      <p:sp>
        <p:nvSpPr>
          <p:cNvPr id="22" name="Text 16"/>
          <p:cNvSpPr/>
          <p:nvPr/>
        </p:nvSpPr>
        <p:spPr>
          <a:xfrm>
            <a:off x="992148" y="630233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Learning Curve</a:t>
            </a:r>
            <a:endParaRPr lang="en-US" sz="1950" b="1" dirty="0">
              <a:latin typeface="Times New Roman" panose="02020603050405020304" pitchFamily="18" charset="0"/>
              <a:cs typeface="Times New Roman" panose="02020603050405020304" pitchFamily="18" charset="0"/>
            </a:endParaRPr>
          </a:p>
        </p:txBody>
      </p:sp>
      <p:sp>
        <p:nvSpPr>
          <p:cNvPr id="23" name="Text 17"/>
          <p:cNvSpPr/>
          <p:nvPr/>
        </p:nvSpPr>
        <p:spPr>
          <a:xfrm>
            <a:off x="992148" y="6731556"/>
            <a:ext cx="6025396" cy="635079"/>
          </a:xfrm>
          <a:prstGeom prst="rect">
            <a:avLst/>
          </a:prstGeom>
          <a:noFill/>
          <a:ln/>
        </p:spPr>
        <p:txBody>
          <a:bodyPr wrap="square" lIns="0" tIns="0" rIns="0" bIns="0" rtlCol="0" anchor="t"/>
          <a:lstStyle/>
          <a:p>
            <a:pPr marL="0" indent="0" algn="l">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Requires more time to understand system extensibility for future extension</a:t>
            </a:r>
            <a:endParaRPr lang="en-US" sz="1550" dirty="0">
              <a:latin typeface="Times New Roman" panose="02020603050405020304" pitchFamily="18" charset="0"/>
              <a:cs typeface="Times New Roman" panose="02020603050405020304" pitchFamily="18" charset="0"/>
            </a:endParaRPr>
          </a:p>
        </p:txBody>
      </p:sp>
      <p:sp>
        <p:nvSpPr>
          <p:cNvPr id="24" name="Shape 18"/>
          <p:cNvSpPr/>
          <p:nvPr/>
        </p:nvSpPr>
        <p:spPr>
          <a:xfrm>
            <a:off x="7414260" y="5310307"/>
            <a:ext cx="6422231" cy="2254687"/>
          </a:xfrm>
          <a:prstGeom prst="roundRect">
            <a:avLst>
              <a:gd name="adj" fmla="val 1320"/>
            </a:avLst>
          </a:prstGeom>
          <a:solidFill>
            <a:srgbClr val="F0EAEA"/>
          </a:solidFill>
          <a:ln/>
        </p:spPr>
      </p:sp>
      <p:sp>
        <p:nvSpPr>
          <p:cNvPr id="25" name="Shape 19"/>
          <p:cNvSpPr/>
          <p:nvPr/>
        </p:nvSpPr>
        <p:spPr>
          <a:xfrm>
            <a:off x="7612618" y="5508665"/>
            <a:ext cx="595313" cy="595313"/>
          </a:xfrm>
          <a:prstGeom prst="roundRect">
            <a:avLst>
              <a:gd name="adj" fmla="val 15358451"/>
            </a:avLst>
          </a:prstGeom>
          <a:solidFill>
            <a:srgbClr val="1D1D1B"/>
          </a:solidFill>
          <a:ln/>
        </p:spPr>
      </p:sp>
      <p:pic>
        <p:nvPicPr>
          <p:cNvPr id="26" name="Image 4" descr="preencoded.png"/>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7776329" y="5672257"/>
            <a:ext cx="267891" cy="267891"/>
          </a:xfrm>
          <a:prstGeom prst="rect">
            <a:avLst/>
          </a:prstGeom>
        </p:spPr>
      </p:pic>
      <p:sp>
        <p:nvSpPr>
          <p:cNvPr id="27" name="Text 20"/>
          <p:cNvSpPr/>
          <p:nvPr/>
        </p:nvSpPr>
        <p:spPr>
          <a:xfrm>
            <a:off x="7612618" y="6302335"/>
            <a:ext cx="2621042" cy="310158"/>
          </a:xfrm>
          <a:prstGeom prst="rect">
            <a:avLst/>
          </a:prstGeom>
          <a:noFill/>
          <a:ln/>
        </p:spPr>
        <p:txBody>
          <a:bodyPr wrap="none" lIns="0" tIns="0" rIns="0" bIns="0" rtlCol="0" anchor="t"/>
          <a:lstStyle/>
          <a:p>
            <a:pPr marL="0" indent="0" algn="l">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Performance Impact</a:t>
            </a:r>
            <a:endParaRPr lang="en-US" sz="1950" b="1" dirty="0">
              <a:latin typeface="Times New Roman" panose="02020603050405020304" pitchFamily="18" charset="0"/>
              <a:cs typeface="Times New Roman" panose="02020603050405020304" pitchFamily="18" charset="0"/>
            </a:endParaRPr>
          </a:p>
        </p:txBody>
      </p:sp>
      <p:sp>
        <p:nvSpPr>
          <p:cNvPr id="28" name="Text 21"/>
          <p:cNvSpPr/>
          <p:nvPr/>
        </p:nvSpPr>
        <p:spPr>
          <a:xfrm>
            <a:off x="7612618" y="6731556"/>
            <a:ext cx="6025515" cy="317540"/>
          </a:xfrm>
          <a:prstGeom prst="rect">
            <a:avLst/>
          </a:prstGeom>
          <a:noFill/>
          <a:ln/>
        </p:spPr>
        <p:txBody>
          <a:bodyPr wrap="none" lIns="0" tIns="0" rIns="0" bIns="0" rtlCol="0" anchor="t"/>
          <a:lstStyle/>
          <a:p>
            <a:pPr marL="0" indent="0" algn="l">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Sometimes degrades the performance of the system</a:t>
            </a:r>
            <a:endParaRPr lang="en-US" sz="15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4" name="Text 2"/>
          <p:cNvSpPr/>
          <p:nvPr/>
        </p:nvSpPr>
        <p:spPr>
          <a:xfrm>
            <a:off x="793789" y="1246823"/>
            <a:ext cx="8947785"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Complexity: The Growing Challenge</a:t>
            </a:r>
            <a:endParaRPr lang="en-US" sz="3900" dirty="0">
              <a:latin typeface="Times New Roman" panose="02020603050405020304" pitchFamily="18" charset="0"/>
              <a:cs typeface="Times New Roman" panose="02020603050405020304" pitchFamily="18" charset="0"/>
            </a:endParaRPr>
          </a:p>
        </p:txBody>
      </p:sp>
      <p:sp>
        <p:nvSpPr>
          <p:cNvPr id="5" name="Text 3"/>
          <p:cNvSpPr/>
          <p:nvPr/>
        </p:nvSpPr>
        <p:spPr>
          <a:xfrm>
            <a:off x="793789" y="2622848"/>
            <a:ext cx="10996592" cy="2745217"/>
          </a:xfrm>
          <a:prstGeom prst="rect">
            <a:avLst/>
          </a:prstGeom>
          <a:noFill/>
          <a:ln/>
        </p:spPr>
        <p:txBody>
          <a:bodyPr wrap="square" lIns="0" tIns="0" rIns="0" bIns="0" rtlCol="0" anchor="t"/>
          <a:lstStyle/>
          <a:p>
            <a:pPr marL="285750" indent="-285750" algn="l">
              <a:lnSpc>
                <a:spcPct val="150000"/>
              </a:lnSpc>
              <a:buFont typeface="Arial" panose="020B0604020202020204" pitchFamily="34" charset="0"/>
              <a:buChar char="•"/>
            </a:pPr>
            <a:r>
              <a:rPr lang="en-US" sz="2200" dirty="0">
                <a:latin typeface="Times New Roman" panose="02020603050405020304" pitchFamily="18" charset="0"/>
                <a:ea typeface="Tomorrow" pitchFamily="34" charset="-122"/>
                <a:cs typeface="Times New Roman" panose="02020603050405020304" pitchFamily="18" charset="0"/>
              </a:rPr>
              <a:t>The rapid growth in modern information systems leads to complexity. </a:t>
            </a:r>
          </a:p>
          <a:p>
            <a:pPr marL="285750" indent="-285750">
              <a:lnSpc>
                <a:spcPct val="150000"/>
              </a:lnSpc>
              <a:buFont typeface="Arial" panose="020B0604020202020204" pitchFamily="34" charset="0"/>
              <a:buChar char="•"/>
            </a:pPr>
            <a:r>
              <a:rPr lang="en-US" sz="2200" dirty="0">
                <a:latin typeface="Times New Roman" panose="02020603050405020304" pitchFamily="18" charset="0"/>
                <a:ea typeface="Tomorrow" pitchFamily="34" charset="-122"/>
                <a:cs typeface="Times New Roman" panose="02020603050405020304" pitchFamily="18" charset="0"/>
              </a:rPr>
              <a:t>Windows XP itself consists of at least 40 million lines of code.</a:t>
            </a:r>
          </a:p>
          <a:p>
            <a:pPr marL="285750" indent="-285750">
              <a:lnSpc>
                <a:spcPct val="150000"/>
              </a:lnSpc>
              <a:buFont typeface="Arial" panose="020B0604020202020204" pitchFamily="34" charset="0"/>
              <a:buChar char="•"/>
            </a:pPr>
            <a:r>
              <a:rPr lang="en-US" sz="2200" dirty="0">
                <a:latin typeface="Times New Roman" panose="02020603050405020304" pitchFamily="18" charset="0"/>
                <a:ea typeface="Tomorrow" pitchFamily="34" charset="-122"/>
                <a:cs typeface="Times New Roman" panose="02020603050405020304" pitchFamily="18" charset="0"/>
              </a:rPr>
              <a:t>Other reasons as increased network connectivity, code complexity, sophistication of attacks.</a:t>
            </a:r>
          </a:p>
          <a:p>
            <a:pPr marL="285750" indent="-285750">
              <a:lnSpc>
                <a:spcPct val="150000"/>
              </a:lnSpc>
              <a:buFont typeface="Arial" panose="020B0604020202020204" pitchFamily="34" charset="0"/>
              <a:buChar char="•"/>
            </a:pPr>
            <a:r>
              <a:rPr lang="en-US" sz="2200" dirty="0">
                <a:latin typeface="Times New Roman" panose="02020603050405020304" pitchFamily="18" charset="0"/>
                <a:ea typeface="Tomorrow" pitchFamily="34" charset="-122"/>
                <a:cs typeface="Times New Roman" panose="02020603050405020304" pitchFamily="18" charset="0"/>
              </a:rPr>
              <a:t>This complexity is responsible for catastrophic and ever-increasing security breaches.</a:t>
            </a:r>
          </a:p>
          <a:p>
            <a:pPr marL="285750" indent="-285750">
              <a:lnSpc>
                <a:spcPct val="150000"/>
              </a:lnSpc>
              <a:buFont typeface="Arial" panose="020B0604020202020204" pitchFamily="34" charset="0"/>
              <a:buChar char="•"/>
            </a:pPr>
            <a:r>
              <a:rPr lang="en-US" sz="2200" dirty="0">
                <a:latin typeface="Times New Roman" panose="02020603050405020304" pitchFamily="18" charset="0"/>
                <a:ea typeface="Tomorrow" pitchFamily="34" charset="-122"/>
                <a:cs typeface="Times New Roman" panose="02020603050405020304" pitchFamily="18" charset="0"/>
              </a:rPr>
              <a:t>More secure system will have more complexity (keep the balance ).</a:t>
            </a:r>
          </a:p>
          <a:p>
            <a:pPr>
              <a:lnSpc>
                <a:spcPct val="150000"/>
              </a:lnSpc>
            </a:pPr>
            <a:endParaRPr lang="en-US" sz="2200" dirty="0">
              <a:latin typeface="Times New Roman" panose="02020603050405020304" pitchFamily="18" charset="0"/>
              <a:ea typeface="Tomorrow" pitchFamily="34"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894636"/>
            <a:ext cx="9166146"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Understanding Software Complexity</a:t>
            </a:r>
            <a:endParaRPr lang="en-US" sz="3900" dirty="0">
              <a:latin typeface="Times New Roman" panose="02020603050405020304" pitchFamily="18" charset="0"/>
              <a:cs typeface="Times New Roman" panose="02020603050405020304" pitchFamily="18" charset="0"/>
            </a:endParaRPr>
          </a:p>
        </p:txBody>
      </p:sp>
      <p:sp>
        <p:nvSpPr>
          <p:cNvPr id="4" name="Text 2"/>
          <p:cNvSpPr/>
          <p:nvPr/>
        </p:nvSpPr>
        <p:spPr>
          <a:xfrm>
            <a:off x="1660061" y="3387261"/>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Component Growth</a:t>
            </a:r>
            <a:endParaRPr lang="en-US" sz="1950" b="1" dirty="0">
              <a:latin typeface="Times New Roman" panose="02020603050405020304" pitchFamily="18" charset="0"/>
              <a:cs typeface="Times New Roman" panose="02020603050405020304" pitchFamily="18" charset="0"/>
            </a:endParaRPr>
          </a:p>
        </p:txBody>
      </p:sp>
      <p:sp>
        <p:nvSpPr>
          <p:cNvPr id="5" name="Text 3"/>
          <p:cNvSpPr/>
          <p:nvPr/>
        </p:nvSpPr>
        <p:spPr>
          <a:xfrm>
            <a:off x="793790" y="3813096"/>
            <a:ext cx="3941207" cy="635079"/>
          </a:xfrm>
          <a:prstGeom prst="rect">
            <a:avLst/>
          </a:prstGeom>
          <a:noFill/>
          <a:ln/>
        </p:spPr>
        <p:txBody>
          <a:bodyPr wrap="square" lIns="0" tIns="0" rIns="0" bIns="0" rtlCol="0" anchor="t"/>
          <a:lstStyle/>
          <a:p>
            <a:pPr marL="0" indent="0" algn="ctr">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Increasing number of software components</a:t>
            </a:r>
            <a:endParaRPr lang="en-US" sz="1550"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5032653" y="2769870"/>
            <a:ext cx="4564975" cy="4564975"/>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4626" y="3756362"/>
            <a:ext cx="296942" cy="296942"/>
          </a:xfrm>
          <a:prstGeom prst="rect">
            <a:avLst/>
          </a:prstGeom>
        </p:spPr>
      </p:pic>
      <p:sp>
        <p:nvSpPr>
          <p:cNvPr id="8" name="Text 4"/>
          <p:cNvSpPr/>
          <p:nvPr/>
        </p:nvSpPr>
        <p:spPr>
          <a:xfrm>
            <a:off x="9895284" y="2952155"/>
            <a:ext cx="3099911" cy="310158"/>
          </a:xfrm>
          <a:prstGeom prst="rect">
            <a:avLst/>
          </a:prstGeom>
          <a:noFill/>
          <a:ln/>
        </p:spPr>
        <p:txBody>
          <a:bodyPr wrap="none" lIns="0" tIns="0" rIns="0" bIns="0" rtlCol="0" anchor="t"/>
          <a:lstStyle/>
          <a:p>
            <a:pPr marL="0" indent="0" algn="ctr">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Exponential Interactions</a:t>
            </a:r>
            <a:endParaRPr lang="en-US" sz="1950" b="1" dirty="0">
              <a:latin typeface="Times New Roman" panose="02020603050405020304" pitchFamily="18" charset="0"/>
              <a:cs typeface="Times New Roman" panose="02020603050405020304" pitchFamily="18" charset="0"/>
            </a:endParaRPr>
          </a:p>
        </p:txBody>
      </p:sp>
      <p:sp>
        <p:nvSpPr>
          <p:cNvPr id="9" name="Text 5"/>
          <p:cNvSpPr/>
          <p:nvPr/>
        </p:nvSpPr>
        <p:spPr>
          <a:xfrm>
            <a:off x="9357401" y="3381375"/>
            <a:ext cx="3941326" cy="635079"/>
          </a:xfrm>
          <a:prstGeom prst="rect">
            <a:avLst/>
          </a:prstGeom>
          <a:noFill/>
          <a:ln/>
        </p:spPr>
        <p:txBody>
          <a:bodyPr wrap="square" lIns="0" tIns="0" rIns="0" bIns="0" rtlCol="0" anchor="t"/>
          <a:lstStyle/>
          <a:p>
            <a:pPr marL="0" indent="0" algn="ctr">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Interactions between components</a:t>
            </a:r>
            <a:endParaRPr lang="en-US" sz="155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6"/>
          <a:stretch>
            <a:fillRect/>
          </a:stretch>
        </p:blipFill>
        <p:spPr>
          <a:xfrm>
            <a:off x="5032653" y="2769870"/>
            <a:ext cx="4564975" cy="4564975"/>
          </a:xfrm>
          <a:prstGeom prst="rect">
            <a:avLst/>
          </a:prstGeom>
        </p:spPr>
      </p:pic>
      <p:pic>
        <p:nvPicPr>
          <p:cNvPr id="11"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7914144" y="3491686"/>
            <a:ext cx="296942" cy="296942"/>
          </a:xfrm>
          <a:prstGeom prst="rect">
            <a:avLst/>
          </a:prstGeom>
        </p:spPr>
      </p:pic>
      <p:sp>
        <p:nvSpPr>
          <p:cNvPr id="12" name="Text 6"/>
          <p:cNvSpPr/>
          <p:nvPr/>
        </p:nvSpPr>
        <p:spPr>
          <a:xfrm>
            <a:off x="9994463" y="4678918"/>
            <a:ext cx="3069908" cy="310158"/>
          </a:xfrm>
          <a:prstGeom prst="rect">
            <a:avLst/>
          </a:prstGeom>
          <a:noFill/>
          <a:ln/>
        </p:spPr>
        <p:txBody>
          <a:bodyPr wrap="none" lIns="0" tIns="0" rIns="0" bIns="0" rtlCol="0" anchor="t"/>
          <a:lstStyle/>
          <a:p>
            <a:pPr marL="0" indent="0" algn="ctr">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Understanding Difficulty</a:t>
            </a:r>
            <a:endParaRPr lang="en-US" sz="1950" b="1" dirty="0">
              <a:latin typeface="Times New Roman" panose="02020603050405020304" pitchFamily="18" charset="0"/>
              <a:cs typeface="Times New Roman" panose="02020603050405020304" pitchFamily="18" charset="0"/>
            </a:endParaRPr>
          </a:p>
        </p:txBody>
      </p:sp>
      <p:sp>
        <p:nvSpPr>
          <p:cNvPr id="13" name="Text 7"/>
          <p:cNvSpPr/>
          <p:nvPr/>
        </p:nvSpPr>
        <p:spPr>
          <a:xfrm>
            <a:off x="9994463" y="5108138"/>
            <a:ext cx="3842147" cy="635079"/>
          </a:xfrm>
          <a:prstGeom prst="rect">
            <a:avLst/>
          </a:prstGeom>
          <a:noFill/>
          <a:ln/>
        </p:spPr>
        <p:txBody>
          <a:bodyPr wrap="square" lIns="0" tIns="0" rIns="0" bIns="0" rtlCol="0" anchor="t"/>
          <a:lstStyle/>
          <a:p>
            <a:pPr marL="0" indent="0" algn="l">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Becomes impossible to know all interactions</a:t>
            </a:r>
            <a:endParaRPr lang="en-US" sz="1550" dirty="0">
              <a:latin typeface="Times New Roman" panose="02020603050405020304" pitchFamily="18" charset="0"/>
              <a:cs typeface="Times New Roman" panose="02020603050405020304" pitchFamily="18" charset="0"/>
            </a:endParaRPr>
          </a:p>
        </p:txBody>
      </p:sp>
      <p:pic>
        <p:nvPicPr>
          <p:cNvPr id="14" name="Image 4" descr="preencoded.png"/>
          <p:cNvPicPr>
            <a:picLocks noChangeAspect="1"/>
          </p:cNvPicPr>
          <p:nvPr/>
        </p:nvPicPr>
        <p:blipFill>
          <a:blip r:embed="rId8"/>
          <a:stretch>
            <a:fillRect/>
          </a:stretch>
        </p:blipFill>
        <p:spPr>
          <a:xfrm>
            <a:off x="5032653" y="2769870"/>
            <a:ext cx="4564975" cy="4564975"/>
          </a:xfrm>
          <a:prstGeom prst="rect">
            <a:avLst/>
          </a:prstGeom>
        </p:spPr>
      </p:pic>
      <p:pic>
        <p:nvPicPr>
          <p:cNvPr id="15" name="Image 5" descr="preencoded.png"/>
          <p:cNvPicPr>
            <a:picLocks noChangeAspect="1"/>
          </p:cNvPicPr>
          <p:nvPr/>
        </p:nvPicPr>
        <p:blipFill>
          <a:blip r:embed="rId4">
            <a:extLst>
              <a:ext uri="{96DAC541-7B7A-43D3-8B79-37D633B846F1}">
                <asvg:svgBlip xmlns:asvg="http://schemas.microsoft.com/office/drawing/2016/SVG/main" r:embed="rId9"/>
              </a:ext>
            </a:extLst>
          </a:blip>
          <a:stretch>
            <a:fillRect/>
          </a:stretch>
        </p:blipFill>
        <p:spPr>
          <a:xfrm>
            <a:off x="8740557" y="5178445"/>
            <a:ext cx="296942" cy="296942"/>
          </a:xfrm>
          <a:prstGeom prst="rect">
            <a:avLst/>
          </a:prstGeom>
        </p:spPr>
      </p:pic>
      <p:sp>
        <p:nvSpPr>
          <p:cNvPr id="16" name="Text 8"/>
          <p:cNvSpPr/>
          <p:nvPr/>
        </p:nvSpPr>
        <p:spPr>
          <a:xfrm>
            <a:off x="10514290" y="6433378"/>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61615C"/>
                </a:solidFill>
                <a:latin typeface="Times New Roman" panose="02020603050405020304" pitchFamily="18" charset="0"/>
                <a:ea typeface="Tomorrow Semi Bold" pitchFamily="34" charset="-122"/>
                <a:cs typeface="Times New Roman" panose="02020603050405020304" pitchFamily="18" charset="0"/>
              </a:rPr>
              <a:t>Design Complexity</a:t>
            </a:r>
            <a:endParaRPr lang="en-US" sz="1950" b="1" dirty="0">
              <a:latin typeface="Times New Roman" panose="02020603050405020304" pitchFamily="18" charset="0"/>
              <a:cs typeface="Times New Roman" panose="02020603050405020304" pitchFamily="18" charset="0"/>
            </a:endParaRPr>
          </a:p>
        </p:txBody>
      </p:sp>
      <p:sp>
        <p:nvSpPr>
          <p:cNvPr id="17" name="Text 9"/>
          <p:cNvSpPr/>
          <p:nvPr/>
        </p:nvSpPr>
        <p:spPr>
          <a:xfrm>
            <a:off x="9895284" y="6834902"/>
            <a:ext cx="3941326" cy="317540"/>
          </a:xfrm>
          <a:prstGeom prst="rect">
            <a:avLst/>
          </a:prstGeom>
          <a:noFill/>
          <a:ln/>
        </p:spPr>
        <p:txBody>
          <a:bodyPr wrap="none" lIns="0" tIns="0" rIns="0" bIns="0" rtlCol="0" anchor="t"/>
          <a:lstStyle/>
          <a:p>
            <a:pPr marL="0" indent="0" algn="ctr">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Creates ambiguity in software design</a:t>
            </a:r>
            <a:endParaRPr lang="en-US" sz="1550" dirty="0">
              <a:latin typeface="Times New Roman" panose="02020603050405020304" pitchFamily="18" charset="0"/>
              <a:cs typeface="Times New Roman" panose="02020603050405020304" pitchFamily="18" charset="0"/>
            </a:endParaRPr>
          </a:p>
        </p:txBody>
      </p:sp>
      <p:pic>
        <p:nvPicPr>
          <p:cNvPr id="18" name="Image 6" descr="preencoded.png"/>
          <p:cNvPicPr>
            <a:picLocks noChangeAspect="1"/>
          </p:cNvPicPr>
          <p:nvPr/>
        </p:nvPicPr>
        <p:blipFill>
          <a:blip r:embed="rId10"/>
          <a:stretch>
            <a:fillRect/>
          </a:stretch>
        </p:blipFill>
        <p:spPr>
          <a:xfrm>
            <a:off x="5032653" y="2769870"/>
            <a:ext cx="4564975" cy="4564975"/>
          </a:xfrm>
          <a:prstGeom prst="rect">
            <a:avLst/>
          </a:prstGeom>
        </p:spPr>
      </p:pic>
      <p:pic>
        <p:nvPicPr>
          <p:cNvPr id="19" name="Image 7" descr="preencoded.png"/>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7391698" y="6485513"/>
            <a:ext cx="296942" cy="296942"/>
          </a:xfrm>
          <a:prstGeom prst="rect">
            <a:avLst/>
          </a:prstGeom>
        </p:spPr>
      </p:pic>
      <p:sp>
        <p:nvSpPr>
          <p:cNvPr id="20" name="Text 10"/>
          <p:cNvSpPr/>
          <p:nvPr/>
        </p:nvSpPr>
        <p:spPr>
          <a:xfrm>
            <a:off x="1660061" y="5973961"/>
            <a:ext cx="2480905" cy="310158"/>
          </a:xfrm>
          <a:prstGeom prst="rect">
            <a:avLst/>
          </a:prstGeom>
          <a:noFill/>
          <a:ln/>
        </p:spPr>
        <p:txBody>
          <a:bodyPr wrap="none" lIns="0" tIns="0" rIns="0" bIns="0" rtlCol="0" anchor="t"/>
          <a:lstStyle/>
          <a:p>
            <a:pPr marL="0" indent="0" algn="ctr">
              <a:lnSpc>
                <a:spcPts val="2400"/>
              </a:lnSpc>
              <a:buNone/>
            </a:pPr>
            <a:r>
              <a:rPr lang="en-US" sz="1950" dirty="0">
                <a:latin typeface="Times New Roman" panose="02020603050405020304" pitchFamily="18" charset="0"/>
                <a:ea typeface="Tomorrow Semi Bold" pitchFamily="34" charset="-122"/>
                <a:cs typeface="Times New Roman" panose="02020603050405020304" pitchFamily="18" charset="0"/>
              </a:rPr>
              <a:t>Security Threats</a:t>
            </a:r>
            <a:endParaRPr lang="en-US" sz="1950" dirty="0">
              <a:latin typeface="Times New Roman" panose="02020603050405020304" pitchFamily="18" charset="0"/>
              <a:cs typeface="Times New Roman" panose="02020603050405020304" pitchFamily="18" charset="0"/>
            </a:endParaRPr>
          </a:p>
        </p:txBody>
      </p:sp>
      <p:sp>
        <p:nvSpPr>
          <p:cNvPr id="21" name="Text 11"/>
          <p:cNvSpPr/>
          <p:nvPr/>
        </p:nvSpPr>
        <p:spPr>
          <a:xfrm>
            <a:off x="793790" y="6403181"/>
            <a:ext cx="3941207" cy="317540"/>
          </a:xfrm>
          <a:prstGeom prst="rect">
            <a:avLst/>
          </a:prstGeom>
          <a:noFill/>
          <a:ln/>
        </p:spPr>
        <p:txBody>
          <a:bodyPr wrap="none" lIns="0" tIns="0" rIns="0" bIns="0" rtlCol="0" anchor="t"/>
          <a:lstStyle/>
          <a:p>
            <a:pPr marL="0" indent="0" algn="ctr">
              <a:lnSpc>
                <a:spcPts val="2500"/>
              </a:lnSpc>
              <a:buNone/>
            </a:pPr>
            <a:r>
              <a:rPr lang="en-US" sz="1550" dirty="0">
                <a:solidFill>
                  <a:srgbClr val="61615C"/>
                </a:solidFill>
                <a:latin typeface="Times New Roman" panose="02020603050405020304" pitchFamily="18" charset="0"/>
                <a:ea typeface="Tomorrow" pitchFamily="34" charset="-122"/>
                <a:cs typeface="Times New Roman" panose="02020603050405020304" pitchFamily="18" charset="0"/>
              </a:rPr>
              <a:t>Leads to data handling errors and issues</a:t>
            </a:r>
            <a:endParaRPr lang="en-US" sz="1550" dirty="0">
              <a:latin typeface="Times New Roman" panose="02020603050405020304" pitchFamily="18" charset="0"/>
              <a:cs typeface="Times New Roman" panose="02020603050405020304" pitchFamily="18" charset="0"/>
            </a:endParaRPr>
          </a:p>
        </p:txBody>
      </p:sp>
      <p:pic>
        <p:nvPicPr>
          <p:cNvPr id="22" name="Image 8" descr="preencoded.png"/>
          <p:cNvPicPr>
            <a:picLocks noChangeAspect="1"/>
          </p:cNvPicPr>
          <p:nvPr/>
        </p:nvPicPr>
        <p:blipFill>
          <a:blip r:embed="rId12"/>
          <a:stretch>
            <a:fillRect/>
          </a:stretch>
        </p:blipFill>
        <p:spPr>
          <a:xfrm>
            <a:off x="5032653" y="2769870"/>
            <a:ext cx="4564975" cy="4564975"/>
          </a:xfrm>
          <a:prstGeom prst="rect">
            <a:avLst/>
          </a:prstGeom>
        </p:spPr>
      </p:pic>
      <p:pic>
        <p:nvPicPr>
          <p:cNvPr id="23" name="Image 9" descr="preencoded.png"/>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5731728" y="5606713"/>
            <a:ext cx="296942" cy="2969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417201"/>
            <a:ext cx="7949565"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Benefits of Complexity Analysis</a:t>
            </a:r>
            <a:endParaRPr lang="en-US" sz="3900" dirty="0">
              <a:latin typeface="Times New Roman" panose="02020603050405020304" pitchFamily="18" charset="0"/>
              <a:cs typeface="Times New Roman" panose="02020603050405020304" pitchFamily="18" charset="0"/>
            </a:endParaRPr>
          </a:p>
        </p:txBody>
      </p:sp>
      <p:sp>
        <p:nvSpPr>
          <p:cNvPr id="5" name="Text 3"/>
          <p:cNvSpPr/>
          <p:nvPr/>
        </p:nvSpPr>
        <p:spPr>
          <a:xfrm>
            <a:off x="1087159" y="255817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200" dirty="0">
                <a:latin typeface="Times New Roman" panose="02020603050405020304" pitchFamily="18" charset="0"/>
                <a:ea typeface="Tomorrow" pitchFamily="34" charset="-122"/>
                <a:cs typeface="Times New Roman" panose="02020603050405020304" pitchFamily="18" charset="0"/>
              </a:rPr>
              <a:t>Quality enhancement of code</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1087159" y="294513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200" dirty="0">
                <a:latin typeface="Times New Roman" panose="02020603050405020304" pitchFamily="18" charset="0"/>
                <a:ea typeface="Tomorrow" pitchFamily="34" charset="-122"/>
                <a:cs typeface="Times New Roman" panose="02020603050405020304" pitchFamily="18" charset="0"/>
              </a:rPr>
              <a:t>Maintenance cost reduction</a:t>
            </a:r>
            <a:endParaRPr lang="en-US" sz="2200" dirty="0">
              <a:latin typeface="Times New Roman" panose="02020603050405020304" pitchFamily="18" charset="0"/>
              <a:cs typeface="Times New Roman" panose="02020603050405020304" pitchFamily="18" charset="0"/>
            </a:endParaRPr>
          </a:p>
        </p:txBody>
      </p:sp>
      <p:sp>
        <p:nvSpPr>
          <p:cNvPr id="7" name="Text 5"/>
          <p:cNvSpPr/>
          <p:nvPr/>
        </p:nvSpPr>
        <p:spPr>
          <a:xfrm>
            <a:off x="1087159" y="333208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200" dirty="0">
                <a:latin typeface="Times New Roman" panose="02020603050405020304" pitchFamily="18" charset="0"/>
                <a:ea typeface="Tomorrow" pitchFamily="34" charset="-122"/>
                <a:cs typeface="Times New Roman" panose="02020603050405020304" pitchFamily="18" charset="0"/>
              </a:rPr>
              <a:t>Low compatibility issues</a:t>
            </a:r>
            <a:endParaRPr lang="en-US" sz="2200" dirty="0">
              <a:latin typeface="Times New Roman" panose="02020603050405020304" pitchFamily="18" charset="0"/>
              <a:cs typeface="Times New Roman" panose="02020603050405020304" pitchFamily="18" charset="0"/>
            </a:endParaRPr>
          </a:p>
        </p:txBody>
      </p:sp>
      <p:sp>
        <p:nvSpPr>
          <p:cNvPr id="8" name="Text 6"/>
          <p:cNvSpPr/>
          <p:nvPr/>
        </p:nvSpPr>
        <p:spPr>
          <a:xfrm>
            <a:off x="1087159" y="371903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200" dirty="0">
                <a:latin typeface="Times New Roman" panose="02020603050405020304" pitchFamily="18" charset="0"/>
                <a:ea typeface="Tomorrow" pitchFamily="34" charset="-122"/>
                <a:cs typeface="Times New Roman" panose="02020603050405020304" pitchFamily="18" charset="0"/>
              </a:rPr>
              <a:t>Improved functionality</a:t>
            </a:r>
            <a:endParaRPr lang="en-US" sz="2200" dirty="0">
              <a:latin typeface="Times New Roman" panose="02020603050405020304" pitchFamily="18" charset="0"/>
              <a:cs typeface="Times New Roman" panose="02020603050405020304" pitchFamily="18" charset="0"/>
            </a:endParaRPr>
          </a:p>
        </p:txBody>
      </p:sp>
      <p:sp>
        <p:nvSpPr>
          <p:cNvPr id="9" name="Text 7"/>
          <p:cNvSpPr/>
          <p:nvPr/>
        </p:nvSpPr>
        <p:spPr>
          <a:xfrm>
            <a:off x="1087159" y="410599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200" dirty="0">
                <a:latin typeface="Times New Roman" panose="02020603050405020304" pitchFamily="18" charset="0"/>
                <a:ea typeface="Tomorrow" pitchFamily="34" charset="-122"/>
                <a:cs typeface="Times New Roman" panose="02020603050405020304" pitchFamily="18" charset="0"/>
              </a:rPr>
              <a:t>Better developer understanding</a:t>
            </a:r>
            <a:endParaRPr lang="en-US" sz="2200" dirty="0">
              <a:latin typeface="Times New Roman" panose="02020603050405020304" pitchFamily="18" charset="0"/>
              <a:cs typeface="Times New Roman" panose="02020603050405020304" pitchFamily="18" charset="0"/>
            </a:endParaRPr>
          </a:p>
        </p:txBody>
      </p:sp>
      <p:sp>
        <p:nvSpPr>
          <p:cNvPr id="10" name="Text 8"/>
          <p:cNvSpPr/>
          <p:nvPr/>
        </p:nvSpPr>
        <p:spPr>
          <a:xfrm>
            <a:off x="1087159" y="449294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200" dirty="0">
                <a:latin typeface="Times New Roman" panose="02020603050405020304" pitchFamily="18" charset="0"/>
                <a:ea typeface="Tomorrow" pitchFamily="34" charset="-122"/>
                <a:cs typeface="Times New Roman" panose="02020603050405020304" pitchFamily="18" charset="0"/>
              </a:rPr>
              <a:t>Reduced security vulnerabilities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1303139"/>
            <a:ext cx="7838003"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Software Security Knowledge</a:t>
            </a:r>
            <a:endParaRPr lang="en-US" sz="3900" dirty="0">
              <a:latin typeface="Times New Roman" panose="02020603050405020304" pitchFamily="18" charset="0"/>
              <a:cs typeface="Times New Roman" panose="02020603050405020304" pitchFamily="18" charset="0"/>
            </a:endParaRPr>
          </a:p>
        </p:txBody>
      </p:sp>
      <p:pic>
        <p:nvPicPr>
          <p:cNvPr id="35" name="Picture 34">
            <a:extLst>
              <a:ext uri="{FF2B5EF4-FFF2-40B4-BE49-F238E27FC236}">
                <a16:creationId xmlns:a16="http://schemas.microsoft.com/office/drawing/2014/main" id="{B3D4D2FC-6936-4ACC-873E-CFEB9D891285}"/>
              </a:ext>
            </a:extLst>
          </p:cNvPr>
          <p:cNvPicPr>
            <a:picLocks noChangeAspect="1"/>
          </p:cNvPicPr>
          <p:nvPr/>
        </p:nvPicPr>
        <p:blipFill rotWithShape="1">
          <a:blip r:embed="rId3"/>
          <a:srcRect r="5663" b="5278"/>
          <a:stretch/>
        </p:blipFill>
        <p:spPr>
          <a:xfrm>
            <a:off x="1473798" y="2173046"/>
            <a:ext cx="11639774" cy="514215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913595"/>
            <a:ext cx="7555230"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Risk Management Framework</a:t>
            </a:r>
            <a:endParaRPr lang="en-US" sz="39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608240"/>
            <a:ext cx="13042821" cy="635079"/>
          </a:xfrm>
          <a:prstGeom prst="rect">
            <a:avLst/>
          </a:prstGeom>
          <a:noFill/>
          <a:ln/>
        </p:spPr>
        <p:txBody>
          <a:bodyPr wrap="square" lIns="0" tIns="0" rIns="0" bIns="0" rtlCol="0" anchor="t"/>
          <a:lstStyle/>
          <a:p>
            <a:pPr marL="342900" indent="-342900" algn="l">
              <a:buFont typeface="Arial" panose="020B0604020202020204" pitchFamily="34" charset="0"/>
              <a:buChar char="•"/>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Risk management is a course of action to summarize and numerically analyze possible risks within the organization and software. </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793790" y="3797260"/>
            <a:ext cx="13042821" cy="635079"/>
          </a:xfrm>
          <a:prstGeom prst="rect">
            <a:avLst/>
          </a:prstGeom>
          <a:noFill/>
          <a:ln/>
        </p:spPr>
        <p:txBody>
          <a:bodyPr wrap="square" lIns="0" tIns="0" rIns="0" bIns="0" rtlCol="0" anchor="t"/>
          <a:lstStyle/>
          <a:p>
            <a:pPr marL="342900" indent="-342900" algn="l">
              <a:buFont typeface="Arial" panose="020B0604020202020204" pitchFamily="34" charset="0"/>
              <a:buChar char="•"/>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The risk management process is a step that is developed associating the software development life cycle and enhances the importance of security during the development of software.</a:t>
            </a:r>
            <a:endParaRPr lang="en-US" sz="2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8EF5F96E-9633-4F57-9F72-825A9D332E79}"/>
              </a:ext>
            </a:extLst>
          </p:cNvPr>
          <p:cNvSpPr/>
          <p:nvPr/>
        </p:nvSpPr>
        <p:spPr>
          <a:xfrm>
            <a:off x="913805" y="4986280"/>
            <a:ext cx="7315200" cy="1785104"/>
          </a:xfrm>
          <a:prstGeom prst="rect">
            <a:avLst/>
          </a:prstGeom>
        </p:spPr>
        <p:txBody>
          <a:bodyPr>
            <a:spAutoFit/>
          </a:bodyPr>
          <a:lstStyle/>
          <a:p>
            <a:pPr marL="342900" indent="-342900">
              <a:buFont typeface="Arial" panose="020B0604020202020204" pitchFamily="34" charset="0"/>
              <a:buChar char="•"/>
            </a:pPr>
            <a:r>
              <a:rPr lang="en-US" sz="2200" dirty="0">
                <a:solidFill>
                  <a:srgbClr val="61615C"/>
                </a:solidFill>
                <a:latin typeface="Times New Roman" panose="02020603050405020304" pitchFamily="18" charset="0"/>
                <a:cs typeface="Times New Roman" panose="02020603050405020304" pitchFamily="18" charset="0"/>
              </a:rPr>
              <a:t>Main elements of risk management:</a:t>
            </a:r>
          </a:p>
          <a:p>
            <a:pPr marL="742950" lvl="1" indent="-285750">
              <a:buFont typeface="Arial" panose="020B0604020202020204" pitchFamily="34" charset="0"/>
              <a:buChar char="•"/>
            </a:pPr>
            <a:r>
              <a:rPr lang="en-US" sz="2200" dirty="0">
                <a:solidFill>
                  <a:srgbClr val="61615C"/>
                </a:solidFill>
                <a:latin typeface="Times New Roman" panose="02020603050405020304" pitchFamily="18" charset="0"/>
                <a:cs typeface="Times New Roman" panose="02020603050405020304" pitchFamily="18" charset="0"/>
              </a:rPr>
              <a:t>Risk Identification</a:t>
            </a:r>
          </a:p>
          <a:p>
            <a:pPr marL="742950" lvl="1" indent="-285750">
              <a:buFont typeface="Arial" panose="020B0604020202020204" pitchFamily="34" charset="0"/>
              <a:buChar char="•"/>
            </a:pPr>
            <a:r>
              <a:rPr lang="en-US" sz="2200" dirty="0">
                <a:solidFill>
                  <a:srgbClr val="61615C"/>
                </a:solidFill>
                <a:latin typeface="Times New Roman" panose="02020603050405020304" pitchFamily="18" charset="0"/>
                <a:cs typeface="Times New Roman" panose="02020603050405020304" pitchFamily="18" charset="0"/>
              </a:rPr>
              <a:t>Risk Mitigation</a:t>
            </a:r>
          </a:p>
          <a:p>
            <a:pPr marL="742950" lvl="1" indent="-285750">
              <a:buFont typeface="Arial" panose="020B0604020202020204" pitchFamily="34" charset="0"/>
              <a:buChar char="•"/>
            </a:pPr>
            <a:r>
              <a:rPr lang="en-US" sz="2200" dirty="0">
                <a:solidFill>
                  <a:srgbClr val="61615C"/>
                </a:solidFill>
                <a:latin typeface="Times New Roman" panose="02020603050405020304" pitchFamily="18" charset="0"/>
                <a:cs typeface="Times New Roman" panose="02020603050405020304" pitchFamily="18" charset="0"/>
              </a:rPr>
              <a:t>Monitoring</a:t>
            </a:r>
          </a:p>
          <a:p>
            <a:pPr marL="742950" lvl="1" indent="-285750">
              <a:buFont typeface="Arial" panose="020B0604020202020204" pitchFamily="34" charset="0"/>
              <a:buChar char="•"/>
            </a:pPr>
            <a:r>
              <a:rPr lang="en-US" sz="2200" dirty="0">
                <a:solidFill>
                  <a:srgbClr val="61615C"/>
                </a:solidFill>
                <a:latin typeface="Times New Roman" panose="02020603050405020304" pitchFamily="18" charset="0"/>
                <a:cs typeface="Times New Roman" panose="02020603050405020304" pitchFamily="18" charset="0"/>
              </a:rPr>
              <a:t>Continuous Improvement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30342"/>
            <a:ext cx="7716917"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The Risk Management Process</a:t>
            </a:r>
            <a:endParaRPr lang="en-US" sz="39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3828075C-AEF2-4212-8E03-615D22040BB0}"/>
              </a:ext>
            </a:extLst>
          </p:cNvPr>
          <p:cNvPicPr>
            <a:picLocks noChangeAspect="1"/>
          </p:cNvPicPr>
          <p:nvPr/>
        </p:nvPicPr>
        <p:blipFill>
          <a:blip r:embed="rId3"/>
          <a:stretch>
            <a:fillRect/>
          </a:stretch>
        </p:blipFill>
        <p:spPr>
          <a:xfrm>
            <a:off x="4830183" y="1559860"/>
            <a:ext cx="4077149" cy="6088828"/>
          </a:xfrm>
          <a:prstGeom prst="rect">
            <a:avLst/>
          </a:prstGeom>
        </p:spPr>
      </p:pic>
    </p:spTree>
    <p:extLst>
      <p:ext uri="{BB962C8B-B14F-4D97-AF65-F5344CB8AC3E}">
        <p14:creationId xmlns:p14="http://schemas.microsoft.com/office/powerpoint/2010/main" val="2101971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830342"/>
            <a:ext cx="7716917"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The Risk Management Process</a:t>
            </a:r>
            <a:endParaRPr lang="en-US" sz="3900" dirty="0">
              <a:latin typeface="Times New Roman" panose="02020603050405020304" pitchFamily="18" charset="0"/>
              <a:cs typeface="Times New Roman" panose="02020603050405020304" pitchFamily="18" charset="0"/>
            </a:endParaRPr>
          </a:p>
        </p:txBody>
      </p:sp>
      <p:sp>
        <p:nvSpPr>
          <p:cNvPr id="4" name="Shape 2"/>
          <p:cNvSpPr/>
          <p:nvPr/>
        </p:nvSpPr>
        <p:spPr>
          <a:xfrm>
            <a:off x="7303770" y="2388037"/>
            <a:ext cx="22860" cy="5011103"/>
          </a:xfrm>
          <a:prstGeom prst="roundRect">
            <a:avLst>
              <a:gd name="adj" fmla="val 130232"/>
            </a:avLst>
          </a:prstGeom>
          <a:solidFill>
            <a:srgbClr val="D6D0D0"/>
          </a:solidFill>
          <a:ln/>
        </p:spPr>
      </p:sp>
      <p:sp>
        <p:nvSpPr>
          <p:cNvPr id="5" name="Shape 3"/>
          <p:cNvSpPr/>
          <p:nvPr/>
        </p:nvSpPr>
        <p:spPr>
          <a:xfrm>
            <a:off x="6605569" y="2599849"/>
            <a:ext cx="595313" cy="22860"/>
          </a:xfrm>
          <a:prstGeom prst="roundRect">
            <a:avLst>
              <a:gd name="adj" fmla="val 130232"/>
            </a:avLst>
          </a:prstGeom>
          <a:solidFill>
            <a:srgbClr val="D6D0D0"/>
          </a:solidFill>
          <a:ln/>
        </p:spPr>
      </p:sp>
      <p:sp>
        <p:nvSpPr>
          <p:cNvPr id="8" name="Text 6"/>
          <p:cNvSpPr/>
          <p:nvPr/>
        </p:nvSpPr>
        <p:spPr>
          <a:xfrm>
            <a:off x="2317076" y="2487156"/>
            <a:ext cx="2856309" cy="310158"/>
          </a:xfrm>
          <a:prstGeom prst="rect">
            <a:avLst/>
          </a:prstGeom>
          <a:noFill/>
          <a:ln/>
        </p:spPr>
        <p:txBody>
          <a:bodyPr wrap="none" lIns="0" tIns="0" rIns="0" bIns="0" rtlCol="0" anchor="t"/>
          <a:lstStyle/>
          <a:p>
            <a:pPr marL="0" indent="0" algn="ctr">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System Categorization</a:t>
            </a:r>
            <a:endParaRPr lang="en-US" sz="2000" b="1" dirty="0">
              <a:latin typeface="Times New Roman" panose="02020603050405020304" pitchFamily="18" charset="0"/>
              <a:cs typeface="Times New Roman" panose="02020603050405020304" pitchFamily="18" charset="0"/>
            </a:endParaRPr>
          </a:p>
        </p:txBody>
      </p:sp>
      <p:sp>
        <p:nvSpPr>
          <p:cNvPr id="9" name="Text 7"/>
          <p:cNvSpPr/>
          <p:nvPr/>
        </p:nvSpPr>
        <p:spPr>
          <a:xfrm>
            <a:off x="793790" y="2885480"/>
            <a:ext cx="5529143" cy="1270159"/>
          </a:xfrm>
          <a:prstGeom prst="rect">
            <a:avLst/>
          </a:prstGeom>
          <a:noFill/>
          <a:ln/>
        </p:spPr>
        <p:txBody>
          <a:bodyPr wrap="square" lIns="0" tIns="0" rIns="0" bIns="0" rtlCol="0" anchor="t"/>
          <a:lstStyle/>
          <a:p>
            <a:pPr marL="0" indent="0" algn="ctr">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Categorization of hardware, software, system interfaces, information and data, people..</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7429518" y="3801232"/>
            <a:ext cx="595313" cy="22860"/>
          </a:xfrm>
          <a:prstGeom prst="roundRect">
            <a:avLst>
              <a:gd name="adj" fmla="val 130232"/>
            </a:avLst>
          </a:prstGeom>
          <a:solidFill>
            <a:srgbClr val="D6D0D0"/>
          </a:solidFill>
          <a:ln/>
        </p:spPr>
      </p:sp>
      <p:sp>
        <p:nvSpPr>
          <p:cNvPr id="12" name="Text 10"/>
          <p:cNvSpPr/>
          <p:nvPr/>
        </p:nvSpPr>
        <p:spPr>
          <a:xfrm>
            <a:off x="7166372" y="3615869"/>
            <a:ext cx="297656" cy="372070"/>
          </a:xfrm>
          <a:prstGeom prst="rect">
            <a:avLst/>
          </a:prstGeom>
          <a:noFill/>
          <a:ln/>
        </p:spPr>
        <p:txBody>
          <a:bodyPr wrap="none" lIns="0" tIns="0" rIns="0" bIns="0" rtlCol="0" anchor="t"/>
          <a:lstStyle/>
          <a:p>
            <a:pPr marL="0" indent="0" algn="ctr">
              <a:lnSpc>
                <a:spcPts val="2300"/>
              </a:lnSpc>
              <a:buNone/>
            </a:pP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9684446" y="3677781"/>
            <a:ext cx="2539603" cy="310158"/>
          </a:xfrm>
          <a:prstGeom prst="rect">
            <a:avLst/>
          </a:prstGeom>
          <a:noFill/>
          <a:ln/>
        </p:spPr>
        <p:txBody>
          <a:bodyPr wrap="none" lIns="0" tIns="0" rIns="0" bIns="0" rtlCol="0" anchor="t"/>
          <a:lstStyle/>
          <a:p>
            <a:pPr marL="0" indent="0" algn="l">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Threat Identification</a:t>
            </a:r>
            <a:endParaRPr lang="en-US" sz="2000" b="1" dirty="0">
              <a:latin typeface="Times New Roman" panose="02020603050405020304" pitchFamily="18" charset="0"/>
              <a:cs typeface="Times New Roman" panose="02020603050405020304" pitchFamily="18" charset="0"/>
            </a:endParaRPr>
          </a:p>
        </p:txBody>
      </p:sp>
      <p:sp>
        <p:nvSpPr>
          <p:cNvPr id="14" name="Text 12"/>
          <p:cNvSpPr/>
          <p:nvPr/>
        </p:nvSpPr>
        <p:spPr>
          <a:xfrm>
            <a:off x="8307467" y="4076105"/>
            <a:ext cx="5529143" cy="1270159"/>
          </a:xfrm>
          <a:prstGeom prst="rect">
            <a:avLst/>
          </a:prstGeom>
          <a:noFill/>
          <a:ln/>
        </p:spPr>
        <p:txBody>
          <a:bodyPr wrap="square" lIns="0" tIns="0" rIns="0" bIns="0" rtlCol="0" anchor="t"/>
          <a:lstStyle/>
          <a:p>
            <a:pPr marL="0" indent="0" algn="ctr">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Examiner identifies previous cyber attack statistics and their effects on resources, examines various organizational assets through tools, and provides a threat statement.</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6627085" y="4872633"/>
            <a:ext cx="595313" cy="22860"/>
          </a:xfrm>
          <a:prstGeom prst="roundRect">
            <a:avLst>
              <a:gd name="adj" fmla="val 130232"/>
            </a:avLst>
          </a:prstGeom>
          <a:solidFill>
            <a:srgbClr val="D6D0D0"/>
          </a:solidFill>
          <a:ln/>
        </p:spPr>
      </p:sp>
      <p:sp>
        <p:nvSpPr>
          <p:cNvPr id="18" name="Text 16"/>
          <p:cNvSpPr/>
          <p:nvPr/>
        </p:nvSpPr>
        <p:spPr>
          <a:xfrm>
            <a:off x="2189500" y="4755618"/>
            <a:ext cx="3329345" cy="310158"/>
          </a:xfrm>
          <a:prstGeom prst="rect">
            <a:avLst/>
          </a:prstGeom>
          <a:noFill/>
          <a:ln/>
        </p:spPr>
        <p:txBody>
          <a:bodyPr wrap="none" lIns="0" tIns="0" rIns="0" bIns="0" rtlCol="0" anchor="t"/>
          <a:lstStyle/>
          <a:p>
            <a:pPr marL="0" indent="0" algn="ctr">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Vulnerability Identification</a:t>
            </a:r>
            <a:endParaRPr lang="en-US" sz="2000" b="1" dirty="0">
              <a:latin typeface="Times New Roman" panose="02020603050405020304" pitchFamily="18" charset="0"/>
              <a:cs typeface="Times New Roman" panose="02020603050405020304" pitchFamily="18" charset="0"/>
            </a:endParaRPr>
          </a:p>
        </p:txBody>
      </p:sp>
      <p:sp>
        <p:nvSpPr>
          <p:cNvPr id="19" name="Text 17"/>
          <p:cNvSpPr/>
          <p:nvPr/>
        </p:nvSpPr>
        <p:spPr>
          <a:xfrm>
            <a:off x="793790" y="5158264"/>
            <a:ext cx="5529143" cy="952619"/>
          </a:xfrm>
          <a:prstGeom prst="rect">
            <a:avLst/>
          </a:prstGeom>
          <a:noFill/>
          <a:ln/>
        </p:spPr>
        <p:txBody>
          <a:bodyPr wrap="square" lIns="0" tIns="0" rIns="0" bIns="0" rtlCol="0" anchor="t"/>
          <a:lstStyle/>
          <a:p>
            <a:pPr marL="0" indent="0" algn="ctr">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Associates previous audit reports, comments during audit, system security requirements, and test results. Provides a potential vulnerability list.</a:t>
            </a:r>
            <a:endParaRPr lang="en-US" sz="2000" dirty="0">
              <a:latin typeface="Times New Roman" panose="02020603050405020304" pitchFamily="18" charset="0"/>
              <a:cs typeface="Times New Roman" panose="02020603050405020304" pitchFamily="18" charset="0"/>
            </a:endParaRPr>
          </a:p>
        </p:txBody>
      </p:sp>
      <p:sp>
        <p:nvSpPr>
          <p:cNvPr id="20" name="Shape 18"/>
          <p:cNvSpPr/>
          <p:nvPr/>
        </p:nvSpPr>
        <p:spPr>
          <a:xfrm>
            <a:off x="7364970" y="5954911"/>
            <a:ext cx="595313" cy="22860"/>
          </a:xfrm>
          <a:prstGeom prst="roundRect">
            <a:avLst>
              <a:gd name="adj" fmla="val 130232"/>
            </a:avLst>
          </a:prstGeom>
          <a:solidFill>
            <a:srgbClr val="D6D0D0"/>
          </a:solidFill>
          <a:ln/>
        </p:spPr>
      </p:sp>
      <p:sp>
        <p:nvSpPr>
          <p:cNvPr id="23" name="Text 21"/>
          <p:cNvSpPr/>
          <p:nvPr/>
        </p:nvSpPr>
        <p:spPr>
          <a:xfrm>
            <a:off x="9547919" y="5811322"/>
            <a:ext cx="2480905" cy="310158"/>
          </a:xfrm>
          <a:prstGeom prst="rect">
            <a:avLst/>
          </a:prstGeom>
          <a:noFill/>
          <a:ln/>
        </p:spPr>
        <p:txBody>
          <a:bodyPr wrap="none" lIns="0" tIns="0" rIns="0" bIns="0" rtlCol="0" anchor="t"/>
          <a:lstStyle/>
          <a:p>
            <a:pPr marL="0" indent="0" algn="ctr">
              <a:lnSpc>
                <a:spcPts val="24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Control Analysis</a:t>
            </a:r>
            <a:endParaRPr lang="en-US" sz="2000" b="1" dirty="0">
              <a:latin typeface="Times New Roman" panose="02020603050405020304" pitchFamily="18" charset="0"/>
              <a:cs typeface="Times New Roman" panose="02020603050405020304" pitchFamily="18" charset="0"/>
            </a:endParaRPr>
          </a:p>
        </p:txBody>
      </p:sp>
      <p:sp>
        <p:nvSpPr>
          <p:cNvPr id="24" name="Text 22"/>
          <p:cNvSpPr/>
          <p:nvPr/>
        </p:nvSpPr>
        <p:spPr>
          <a:xfrm>
            <a:off x="8307467" y="6240542"/>
            <a:ext cx="5529143" cy="952619"/>
          </a:xfrm>
          <a:prstGeom prst="rect">
            <a:avLst/>
          </a:prstGeom>
          <a:noFill/>
          <a:ln/>
        </p:spPr>
        <p:txBody>
          <a:bodyPr wrap="square" lIns="0" tIns="0" rIns="0" bIns="0" rtlCol="0" anchor="t"/>
          <a:lstStyle/>
          <a:p>
            <a:pPr marL="0" indent="0" algn="ctr">
              <a:lnSpc>
                <a:spcPts val="250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Analyzes current control and access management configuration, reviews planned control strategy. Provides list of controls and planned controls for risk management.</a:t>
            </a: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DB4A26C-937D-4F15-834C-112285770193}"/>
              </a:ext>
            </a:extLst>
          </p:cNvPr>
          <p:cNvPicPr>
            <a:picLocks noChangeAspect="1"/>
          </p:cNvPicPr>
          <p:nvPr/>
        </p:nvPicPr>
        <p:blipFill>
          <a:blip r:embed="rId3"/>
          <a:stretch>
            <a:fillRect/>
          </a:stretch>
        </p:blipFill>
        <p:spPr>
          <a:xfrm>
            <a:off x="7244953" y="2507840"/>
            <a:ext cx="156984" cy="156984"/>
          </a:xfrm>
          <a:prstGeom prst="rect">
            <a:avLst/>
          </a:prstGeom>
        </p:spPr>
      </p:pic>
      <p:pic>
        <p:nvPicPr>
          <p:cNvPr id="26" name="Picture 25">
            <a:extLst>
              <a:ext uri="{FF2B5EF4-FFF2-40B4-BE49-F238E27FC236}">
                <a16:creationId xmlns:a16="http://schemas.microsoft.com/office/drawing/2014/main" id="{F6E8C083-E6C0-4AA3-B012-1D2D9293EE11}"/>
              </a:ext>
            </a:extLst>
          </p:cNvPr>
          <p:cNvPicPr>
            <a:picLocks noChangeAspect="1"/>
          </p:cNvPicPr>
          <p:nvPr/>
        </p:nvPicPr>
        <p:blipFill>
          <a:blip r:embed="rId3"/>
          <a:stretch>
            <a:fillRect/>
          </a:stretch>
        </p:blipFill>
        <p:spPr>
          <a:xfrm>
            <a:off x="7236708" y="5899279"/>
            <a:ext cx="156984" cy="156984"/>
          </a:xfrm>
          <a:prstGeom prst="rect">
            <a:avLst/>
          </a:prstGeom>
        </p:spPr>
      </p:pic>
      <p:pic>
        <p:nvPicPr>
          <p:cNvPr id="27" name="Picture 26">
            <a:extLst>
              <a:ext uri="{FF2B5EF4-FFF2-40B4-BE49-F238E27FC236}">
                <a16:creationId xmlns:a16="http://schemas.microsoft.com/office/drawing/2014/main" id="{EBE50417-DE8E-408D-877D-12920EED5A00}"/>
              </a:ext>
            </a:extLst>
          </p:cNvPr>
          <p:cNvPicPr>
            <a:picLocks noChangeAspect="1"/>
          </p:cNvPicPr>
          <p:nvPr/>
        </p:nvPicPr>
        <p:blipFill>
          <a:blip r:embed="rId3"/>
          <a:stretch>
            <a:fillRect/>
          </a:stretch>
        </p:blipFill>
        <p:spPr>
          <a:xfrm>
            <a:off x="7263854" y="4794141"/>
            <a:ext cx="156984" cy="156984"/>
          </a:xfrm>
          <a:prstGeom prst="rect">
            <a:avLst/>
          </a:prstGeom>
        </p:spPr>
      </p:pic>
      <p:pic>
        <p:nvPicPr>
          <p:cNvPr id="28" name="Picture 27">
            <a:extLst>
              <a:ext uri="{FF2B5EF4-FFF2-40B4-BE49-F238E27FC236}">
                <a16:creationId xmlns:a16="http://schemas.microsoft.com/office/drawing/2014/main" id="{00E8D0DB-7966-468C-9464-6DFAEEC36D7A}"/>
              </a:ext>
            </a:extLst>
          </p:cNvPr>
          <p:cNvPicPr>
            <a:picLocks noChangeAspect="1"/>
          </p:cNvPicPr>
          <p:nvPr/>
        </p:nvPicPr>
        <p:blipFill>
          <a:blip r:embed="rId3"/>
          <a:stretch>
            <a:fillRect/>
          </a:stretch>
        </p:blipFill>
        <p:spPr>
          <a:xfrm>
            <a:off x="7240369" y="3737841"/>
            <a:ext cx="156984" cy="1569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54737" y="668655"/>
            <a:ext cx="9294495" cy="589598"/>
          </a:xfrm>
          <a:prstGeom prst="rect">
            <a:avLst/>
          </a:prstGeom>
          <a:noFill/>
          <a:ln/>
        </p:spPr>
        <p:txBody>
          <a:bodyPr wrap="none" lIns="0" tIns="0" rIns="0" bIns="0" rtlCol="0" anchor="t"/>
          <a:lstStyle/>
          <a:p>
            <a:pPr marL="0" indent="0" algn="l">
              <a:lnSpc>
                <a:spcPts val="4600"/>
              </a:lnSpc>
              <a:buNone/>
            </a:pPr>
            <a:r>
              <a:rPr lang="en-US" sz="3700" dirty="0">
                <a:solidFill>
                  <a:srgbClr val="1D1D1B"/>
                </a:solidFill>
                <a:latin typeface="Times New Roman" panose="02020603050405020304" pitchFamily="18" charset="0"/>
                <a:ea typeface="Tomorrow Semi Bold" pitchFamily="34" charset="-122"/>
                <a:cs typeface="Times New Roman" panose="02020603050405020304" pitchFamily="18" charset="0"/>
              </a:rPr>
              <a:t>Risk Management Process</a:t>
            </a:r>
            <a:endParaRPr lang="en-US" sz="3700" dirty="0">
              <a:latin typeface="Times New Roman" panose="02020603050405020304" pitchFamily="18" charset="0"/>
              <a:cs typeface="Times New Roman" panose="02020603050405020304" pitchFamily="18" charset="0"/>
            </a:endParaRPr>
          </a:p>
        </p:txBody>
      </p:sp>
      <p:sp>
        <p:nvSpPr>
          <p:cNvPr id="3" name="Shape 1"/>
          <p:cNvSpPr/>
          <p:nvPr/>
        </p:nvSpPr>
        <p:spPr>
          <a:xfrm>
            <a:off x="7303770" y="1635562"/>
            <a:ext cx="22860" cy="5925383"/>
          </a:xfrm>
          <a:prstGeom prst="roundRect">
            <a:avLst>
              <a:gd name="adj" fmla="val 123813"/>
            </a:avLst>
          </a:prstGeom>
          <a:solidFill>
            <a:srgbClr val="D6D0D0"/>
          </a:solidFill>
          <a:ln/>
        </p:spPr>
      </p:sp>
      <p:sp>
        <p:nvSpPr>
          <p:cNvPr id="4" name="Shape 2"/>
          <p:cNvSpPr/>
          <p:nvPr/>
        </p:nvSpPr>
        <p:spPr>
          <a:xfrm>
            <a:off x="6772037" y="2469594"/>
            <a:ext cx="566023" cy="22860"/>
          </a:xfrm>
          <a:prstGeom prst="roundRect">
            <a:avLst>
              <a:gd name="adj" fmla="val 123813"/>
            </a:avLst>
          </a:prstGeom>
          <a:solidFill>
            <a:srgbClr val="D6D0D0"/>
          </a:solidFill>
          <a:ln/>
        </p:spPr>
      </p:sp>
      <p:sp>
        <p:nvSpPr>
          <p:cNvPr id="5" name="Shape 3"/>
          <p:cNvSpPr/>
          <p:nvPr/>
        </p:nvSpPr>
        <p:spPr>
          <a:xfrm>
            <a:off x="7244477" y="2410301"/>
            <a:ext cx="141446" cy="141446"/>
          </a:xfrm>
          <a:prstGeom prst="roundRect">
            <a:avLst>
              <a:gd name="adj" fmla="val 323233"/>
            </a:avLst>
          </a:prstGeom>
          <a:solidFill>
            <a:srgbClr val="1D1D1B"/>
          </a:solidFill>
          <a:ln/>
        </p:spPr>
      </p:sp>
      <p:sp>
        <p:nvSpPr>
          <p:cNvPr id="7" name="Text 5"/>
          <p:cNvSpPr/>
          <p:nvPr/>
        </p:nvSpPr>
        <p:spPr>
          <a:xfrm>
            <a:off x="2253258" y="1780643"/>
            <a:ext cx="3017044" cy="294799"/>
          </a:xfrm>
          <a:prstGeom prst="rect">
            <a:avLst/>
          </a:prstGeom>
          <a:noFill/>
          <a:ln/>
        </p:spPr>
        <p:txBody>
          <a:bodyPr wrap="none" lIns="0" tIns="0" rIns="0" bIns="0" rtlCol="0" anchor="t"/>
          <a:lstStyle/>
          <a:p>
            <a:pPr marL="0" indent="0" algn="r">
              <a:lnSpc>
                <a:spcPts val="23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Likelihood Determination</a:t>
            </a:r>
            <a:endParaRPr lang="en-US" sz="2000" b="1" dirty="0">
              <a:latin typeface="Times New Roman" panose="02020603050405020304" pitchFamily="18" charset="0"/>
              <a:cs typeface="Times New Roman" panose="02020603050405020304" pitchFamily="18" charset="0"/>
            </a:endParaRPr>
          </a:p>
        </p:txBody>
      </p:sp>
      <p:sp>
        <p:nvSpPr>
          <p:cNvPr id="8" name="Text 6"/>
          <p:cNvSpPr/>
          <p:nvPr/>
        </p:nvSpPr>
        <p:spPr>
          <a:xfrm>
            <a:off x="943332" y="2232065"/>
            <a:ext cx="5617250" cy="905828"/>
          </a:xfrm>
          <a:prstGeom prst="rect">
            <a:avLst/>
          </a:prstGeom>
          <a:noFill/>
          <a:ln/>
        </p:spPr>
        <p:txBody>
          <a:bodyPr wrap="square" lIns="0" tIns="0" rIns="0" bIns="0" rtlCol="0" anchor="t"/>
          <a:lstStyle/>
          <a:p>
            <a:pPr marL="0" indent="0" algn="ctr">
              <a:lnSpc>
                <a:spcPts val="235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Most crucial step - examiner evaluates identified threats, vulnerabilities, and control strategies, then provides ratings for next steps.</a:t>
            </a:r>
            <a:endParaRPr lang="en-US" sz="2000" dirty="0">
              <a:latin typeface="Times New Roman" panose="02020603050405020304" pitchFamily="18" charset="0"/>
              <a:cs typeface="Times New Roman" panose="02020603050405020304" pitchFamily="18" charset="0"/>
            </a:endParaRPr>
          </a:p>
        </p:txBody>
      </p:sp>
      <p:sp>
        <p:nvSpPr>
          <p:cNvPr id="9" name="Shape 7"/>
          <p:cNvSpPr/>
          <p:nvPr/>
        </p:nvSpPr>
        <p:spPr>
          <a:xfrm>
            <a:off x="7292340" y="3601641"/>
            <a:ext cx="566023" cy="22860"/>
          </a:xfrm>
          <a:prstGeom prst="roundRect">
            <a:avLst>
              <a:gd name="adj" fmla="val 123813"/>
            </a:avLst>
          </a:prstGeom>
          <a:solidFill>
            <a:srgbClr val="D6D0D0"/>
          </a:solidFill>
          <a:ln/>
        </p:spPr>
      </p:sp>
      <p:sp>
        <p:nvSpPr>
          <p:cNvPr id="10" name="Shape 8"/>
          <p:cNvSpPr/>
          <p:nvPr/>
        </p:nvSpPr>
        <p:spPr>
          <a:xfrm>
            <a:off x="7244477" y="3542348"/>
            <a:ext cx="141446" cy="141446"/>
          </a:xfrm>
          <a:prstGeom prst="roundRect">
            <a:avLst>
              <a:gd name="adj" fmla="val 323233"/>
            </a:avLst>
          </a:prstGeom>
          <a:solidFill>
            <a:srgbClr val="1D1D1B"/>
          </a:solidFill>
          <a:ln/>
        </p:spPr>
      </p:sp>
      <p:sp>
        <p:nvSpPr>
          <p:cNvPr id="12" name="Text 10"/>
          <p:cNvSpPr/>
          <p:nvPr/>
        </p:nvSpPr>
        <p:spPr>
          <a:xfrm>
            <a:off x="9360098" y="2956203"/>
            <a:ext cx="2358628" cy="294799"/>
          </a:xfrm>
          <a:prstGeom prst="rect">
            <a:avLst/>
          </a:prstGeom>
          <a:noFill/>
          <a:ln/>
        </p:spPr>
        <p:txBody>
          <a:bodyPr wrap="none" lIns="0" tIns="0" rIns="0" bIns="0" rtlCol="0" anchor="t"/>
          <a:lstStyle/>
          <a:p>
            <a:pPr marL="0" indent="0" algn="ctr">
              <a:lnSpc>
                <a:spcPts val="23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Impact Analysis</a:t>
            </a:r>
            <a:endParaRPr lang="en-US" sz="2000" b="1" dirty="0">
              <a:latin typeface="Times New Roman" panose="02020603050405020304" pitchFamily="18" charset="0"/>
              <a:cs typeface="Times New Roman" panose="02020603050405020304" pitchFamily="18" charset="0"/>
            </a:endParaRPr>
          </a:p>
        </p:txBody>
      </p:sp>
      <p:sp>
        <p:nvSpPr>
          <p:cNvPr id="13" name="Text 11"/>
          <p:cNvSpPr/>
          <p:nvPr/>
        </p:nvSpPr>
        <p:spPr>
          <a:xfrm>
            <a:off x="8069818" y="3364111"/>
            <a:ext cx="5617250" cy="905828"/>
          </a:xfrm>
          <a:prstGeom prst="rect">
            <a:avLst/>
          </a:prstGeom>
          <a:noFill/>
          <a:ln/>
        </p:spPr>
        <p:txBody>
          <a:bodyPr wrap="square" lIns="0" tIns="0" rIns="0" bIns="0" rtlCol="0" anchor="t"/>
          <a:lstStyle/>
          <a:p>
            <a:pPr marL="0" indent="0" algn="ctr">
              <a:lnSpc>
                <a:spcPts val="235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Identifies various risks impacting organizational assets like data integrity, confidentiality, and availability. </a:t>
            </a:r>
            <a:endParaRPr lang="en-US" sz="2000" dirty="0">
              <a:latin typeface="Times New Roman" panose="02020603050405020304" pitchFamily="18" charset="0"/>
              <a:cs typeface="Times New Roman" panose="02020603050405020304" pitchFamily="18" charset="0"/>
            </a:endParaRPr>
          </a:p>
        </p:txBody>
      </p:sp>
      <p:sp>
        <p:nvSpPr>
          <p:cNvPr id="14" name="Shape 12"/>
          <p:cNvSpPr/>
          <p:nvPr/>
        </p:nvSpPr>
        <p:spPr>
          <a:xfrm>
            <a:off x="6772037" y="4635698"/>
            <a:ext cx="566023" cy="22860"/>
          </a:xfrm>
          <a:prstGeom prst="roundRect">
            <a:avLst>
              <a:gd name="adj" fmla="val 123813"/>
            </a:avLst>
          </a:prstGeom>
          <a:solidFill>
            <a:srgbClr val="D6D0D0"/>
          </a:solidFill>
          <a:ln/>
        </p:spPr>
      </p:sp>
      <p:sp>
        <p:nvSpPr>
          <p:cNvPr id="15" name="Shape 13"/>
          <p:cNvSpPr/>
          <p:nvPr/>
        </p:nvSpPr>
        <p:spPr>
          <a:xfrm>
            <a:off x="7244477" y="4576405"/>
            <a:ext cx="141446" cy="141446"/>
          </a:xfrm>
          <a:prstGeom prst="roundRect">
            <a:avLst>
              <a:gd name="adj" fmla="val 323233"/>
            </a:avLst>
          </a:prstGeom>
          <a:solidFill>
            <a:srgbClr val="1D1D1B"/>
          </a:solidFill>
          <a:ln/>
        </p:spPr>
      </p:sp>
      <p:sp>
        <p:nvSpPr>
          <p:cNvPr id="17" name="Text 15"/>
          <p:cNvSpPr/>
          <p:nvPr/>
        </p:nvSpPr>
        <p:spPr>
          <a:xfrm>
            <a:off x="2598419" y="3975140"/>
            <a:ext cx="2358628" cy="294799"/>
          </a:xfrm>
          <a:prstGeom prst="rect">
            <a:avLst/>
          </a:prstGeom>
          <a:noFill/>
          <a:ln/>
        </p:spPr>
        <p:txBody>
          <a:bodyPr wrap="none" lIns="0" tIns="0" rIns="0" bIns="0" rtlCol="0" anchor="t"/>
          <a:lstStyle/>
          <a:p>
            <a:pPr marL="0" indent="0" algn="r">
              <a:lnSpc>
                <a:spcPts val="23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Risk Determination</a:t>
            </a:r>
            <a:endParaRPr lang="en-US" sz="2000" b="1" dirty="0">
              <a:latin typeface="Times New Roman" panose="02020603050405020304" pitchFamily="18" charset="0"/>
              <a:cs typeface="Times New Roman" panose="02020603050405020304" pitchFamily="18" charset="0"/>
            </a:endParaRPr>
          </a:p>
        </p:txBody>
      </p:sp>
      <p:sp>
        <p:nvSpPr>
          <p:cNvPr id="18" name="Text 16"/>
          <p:cNvSpPr/>
          <p:nvPr/>
        </p:nvSpPr>
        <p:spPr>
          <a:xfrm>
            <a:off x="943332" y="4398169"/>
            <a:ext cx="5617250" cy="905828"/>
          </a:xfrm>
          <a:prstGeom prst="rect">
            <a:avLst/>
          </a:prstGeom>
          <a:noFill/>
          <a:ln/>
        </p:spPr>
        <p:txBody>
          <a:bodyPr wrap="square" lIns="0" tIns="0" rIns="0" bIns="0" rtlCol="0" anchor="t"/>
          <a:lstStyle/>
          <a:p>
            <a:pPr marL="0" indent="0" algn="ctr">
              <a:lnSpc>
                <a:spcPts val="235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Examiner identifies possible likelihood risks and makes decisions for mitigation or ignorance of specific risks.</a:t>
            </a:r>
            <a:endParaRPr lang="en-US" sz="2000" dirty="0">
              <a:latin typeface="Times New Roman" panose="02020603050405020304" pitchFamily="18" charset="0"/>
              <a:cs typeface="Times New Roman" panose="02020603050405020304" pitchFamily="18" charset="0"/>
            </a:endParaRPr>
          </a:p>
        </p:txBody>
      </p:sp>
      <p:sp>
        <p:nvSpPr>
          <p:cNvPr id="19" name="Shape 17"/>
          <p:cNvSpPr/>
          <p:nvPr/>
        </p:nvSpPr>
        <p:spPr>
          <a:xfrm>
            <a:off x="7292340" y="5579150"/>
            <a:ext cx="566023" cy="22860"/>
          </a:xfrm>
          <a:prstGeom prst="roundRect">
            <a:avLst>
              <a:gd name="adj" fmla="val 123813"/>
            </a:avLst>
          </a:prstGeom>
          <a:solidFill>
            <a:srgbClr val="D6D0D0"/>
          </a:solidFill>
          <a:ln/>
        </p:spPr>
      </p:sp>
      <p:sp>
        <p:nvSpPr>
          <p:cNvPr id="20" name="Shape 18"/>
          <p:cNvSpPr/>
          <p:nvPr/>
        </p:nvSpPr>
        <p:spPr>
          <a:xfrm>
            <a:off x="7244477" y="5519857"/>
            <a:ext cx="141446" cy="141446"/>
          </a:xfrm>
          <a:prstGeom prst="roundRect">
            <a:avLst>
              <a:gd name="adj" fmla="val 323233"/>
            </a:avLst>
          </a:prstGeom>
          <a:solidFill>
            <a:srgbClr val="1D1D1B"/>
          </a:solidFill>
          <a:ln/>
        </p:spPr>
      </p:sp>
      <p:sp>
        <p:nvSpPr>
          <p:cNvPr id="22" name="Text 20"/>
          <p:cNvSpPr/>
          <p:nvPr/>
        </p:nvSpPr>
        <p:spPr>
          <a:xfrm>
            <a:off x="8962702" y="5009198"/>
            <a:ext cx="3329464" cy="294799"/>
          </a:xfrm>
          <a:prstGeom prst="rect">
            <a:avLst/>
          </a:prstGeom>
          <a:noFill/>
          <a:ln/>
        </p:spPr>
        <p:txBody>
          <a:bodyPr wrap="none" lIns="0" tIns="0" rIns="0" bIns="0" rtlCol="0" anchor="t"/>
          <a:lstStyle/>
          <a:p>
            <a:pPr marL="0" indent="0" algn="ctr">
              <a:lnSpc>
                <a:spcPts val="23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Control &amp; Recommendation</a:t>
            </a:r>
            <a:endParaRPr lang="en-US" sz="2000" b="1" dirty="0">
              <a:latin typeface="Times New Roman" panose="02020603050405020304" pitchFamily="18" charset="0"/>
              <a:cs typeface="Times New Roman" panose="02020603050405020304" pitchFamily="18" charset="0"/>
            </a:endParaRPr>
          </a:p>
        </p:txBody>
      </p:sp>
      <p:sp>
        <p:nvSpPr>
          <p:cNvPr id="23" name="Text 21"/>
          <p:cNvSpPr/>
          <p:nvPr/>
        </p:nvSpPr>
        <p:spPr>
          <a:xfrm>
            <a:off x="8069818" y="5432346"/>
            <a:ext cx="5617250" cy="603885"/>
          </a:xfrm>
          <a:prstGeom prst="rect">
            <a:avLst/>
          </a:prstGeom>
          <a:noFill/>
          <a:ln/>
        </p:spPr>
        <p:txBody>
          <a:bodyPr wrap="square" lIns="0" tIns="0" rIns="0" bIns="0" rtlCol="0" anchor="t"/>
          <a:lstStyle/>
          <a:p>
            <a:pPr marL="0" indent="0" algn="ctr">
              <a:lnSpc>
                <a:spcPts val="235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Examiner recommends effective and constructive control strategy according to security view.</a:t>
            </a:r>
            <a:endParaRPr lang="en-US" sz="2000" dirty="0">
              <a:latin typeface="Times New Roman" panose="02020603050405020304" pitchFamily="18" charset="0"/>
              <a:cs typeface="Times New Roman" panose="02020603050405020304" pitchFamily="18" charset="0"/>
            </a:endParaRPr>
          </a:p>
        </p:txBody>
      </p:sp>
      <p:sp>
        <p:nvSpPr>
          <p:cNvPr id="24" name="Shape 22"/>
          <p:cNvSpPr/>
          <p:nvPr/>
        </p:nvSpPr>
        <p:spPr>
          <a:xfrm>
            <a:off x="6772037" y="6704052"/>
            <a:ext cx="566023" cy="22860"/>
          </a:xfrm>
          <a:prstGeom prst="roundRect">
            <a:avLst>
              <a:gd name="adj" fmla="val 123813"/>
            </a:avLst>
          </a:prstGeom>
          <a:solidFill>
            <a:srgbClr val="D6D0D0"/>
          </a:solidFill>
          <a:ln/>
        </p:spPr>
      </p:sp>
      <p:sp>
        <p:nvSpPr>
          <p:cNvPr id="25" name="Shape 23"/>
          <p:cNvSpPr/>
          <p:nvPr/>
        </p:nvSpPr>
        <p:spPr>
          <a:xfrm>
            <a:off x="7244477" y="6644759"/>
            <a:ext cx="141446" cy="141446"/>
          </a:xfrm>
          <a:prstGeom prst="roundRect">
            <a:avLst>
              <a:gd name="adj" fmla="val 323233"/>
            </a:avLst>
          </a:prstGeom>
          <a:solidFill>
            <a:srgbClr val="1D1D1B"/>
          </a:solidFill>
          <a:ln/>
        </p:spPr>
      </p:sp>
      <p:sp>
        <p:nvSpPr>
          <p:cNvPr id="27" name="Text 25"/>
          <p:cNvSpPr/>
          <p:nvPr/>
        </p:nvSpPr>
        <p:spPr>
          <a:xfrm>
            <a:off x="2598419" y="6058614"/>
            <a:ext cx="2803565" cy="294799"/>
          </a:xfrm>
          <a:prstGeom prst="rect">
            <a:avLst/>
          </a:prstGeom>
          <a:noFill/>
          <a:ln/>
        </p:spPr>
        <p:txBody>
          <a:bodyPr wrap="none" lIns="0" tIns="0" rIns="0" bIns="0" rtlCol="0" anchor="t"/>
          <a:lstStyle/>
          <a:p>
            <a:pPr marL="0" indent="0" algn="ctr">
              <a:lnSpc>
                <a:spcPts val="2300"/>
              </a:lnSpc>
              <a:buNone/>
            </a:pPr>
            <a:r>
              <a:rPr lang="en-US" sz="2000" b="1" dirty="0">
                <a:solidFill>
                  <a:srgbClr val="61615C"/>
                </a:solidFill>
                <a:latin typeface="Times New Roman" panose="02020603050405020304" pitchFamily="18" charset="0"/>
                <a:ea typeface="Tomorrow Semi Bold" pitchFamily="34" charset="-122"/>
                <a:cs typeface="Times New Roman" panose="02020603050405020304" pitchFamily="18" charset="0"/>
              </a:rPr>
              <a:t>Results Documentation</a:t>
            </a:r>
            <a:endParaRPr lang="en-US" sz="2000" b="1" dirty="0">
              <a:latin typeface="Times New Roman" panose="02020603050405020304" pitchFamily="18" charset="0"/>
              <a:cs typeface="Times New Roman" panose="02020603050405020304" pitchFamily="18" charset="0"/>
            </a:endParaRPr>
          </a:p>
        </p:txBody>
      </p:sp>
      <p:sp>
        <p:nvSpPr>
          <p:cNvPr id="28" name="Text 26"/>
          <p:cNvSpPr/>
          <p:nvPr/>
        </p:nvSpPr>
        <p:spPr>
          <a:xfrm>
            <a:off x="943332" y="6466522"/>
            <a:ext cx="5617250" cy="905828"/>
          </a:xfrm>
          <a:prstGeom prst="rect">
            <a:avLst/>
          </a:prstGeom>
          <a:noFill/>
          <a:ln/>
        </p:spPr>
        <p:txBody>
          <a:bodyPr wrap="square" lIns="0" tIns="0" rIns="0" bIns="0" rtlCol="0" anchor="t"/>
          <a:lstStyle/>
          <a:p>
            <a:pPr marL="0" indent="0" algn="ctr">
              <a:lnSpc>
                <a:spcPts val="2350"/>
              </a:lnSpc>
              <a:buNone/>
            </a:pPr>
            <a:r>
              <a:rPr lang="en-US" sz="2000" dirty="0">
                <a:solidFill>
                  <a:srgbClr val="61615C"/>
                </a:solidFill>
                <a:latin typeface="Times New Roman" panose="02020603050405020304" pitchFamily="18" charset="0"/>
                <a:ea typeface="Tomorrow" pitchFamily="34" charset="-122"/>
                <a:cs typeface="Times New Roman" panose="02020603050405020304" pitchFamily="18" charset="0"/>
              </a:rPr>
              <a:t>Final step providing documented risk management process report for organization, giving ideal understanding of security, requirements, and current situation.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4698" y="947317"/>
            <a:ext cx="9667280"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Cigital's Risk Management Framework</a:t>
            </a:r>
            <a:endParaRPr lang="en-US" sz="39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847462-9A97-4D63-9D95-44269A8E4136}"/>
              </a:ext>
            </a:extLst>
          </p:cNvPr>
          <p:cNvPicPr>
            <a:picLocks noChangeAspect="1"/>
          </p:cNvPicPr>
          <p:nvPr/>
        </p:nvPicPr>
        <p:blipFill rotWithShape="1">
          <a:blip r:embed="rId3"/>
          <a:srcRect l="1726" r="5502" b="5051"/>
          <a:stretch/>
        </p:blipFill>
        <p:spPr>
          <a:xfrm>
            <a:off x="1656678" y="2054712"/>
            <a:ext cx="9251576" cy="505609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37937" y="438507"/>
            <a:ext cx="7721322" cy="498396"/>
          </a:xfrm>
          <a:prstGeom prst="rect">
            <a:avLst/>
          </a:prstGeom>
          <a:noFill/>
          <a:ln/>
        </p:spPr>
        <p:txBody>
          <a:bodyPr wrap="none" lIns="0" tIns="0" rIns="0" bIns="0" rtlCol="0" anchor="t"/>
          <a:lstStyle/>
          <a:p>
            <a:pPr marL="0" indent="0" algn="l">
              <a:lnSpc>
                <a:spcPts val="3900"/>
              </a:lnSpc>
              <a:buNone/>
            </a:pPr>
            <a:r>
              <a:rPr lang="en-US" sz="3100" dirty="0">
                <a:solidFill>
                  <a:srgbClr val="1D1D1B"/>
                </a:solidFill>
                <a:latin typeface="Times New Roman" panose="02020603050405020304" pitchFamily="18" charset="0"/>
                <a:ea typeface="Tomorrow Semi Bold" pitchFamily="34" charset="-122"/>
                <a:cs typeface="Times New Roman" panose="02020603050405020304" pitchFamily="18" charset="0"/>
              </a:rPr>
              <a:t>Six Essential Activities of Cigital's RMF</a:t>
            </a:r>
            <a:endParaRPr lang="en-US" sz="3100" dirty="0">
              <a:latin typeface="Times New Roman" panose="02020603050405020304" pitchFamily="18" charset="0"/>
              <a:cs typeface="Times New Roman" panose="02020603050405020304" pitchFamily="18" charset="0"/>
            </a:endParaRPr>
          </a:p>
        </p:txBody>
      </p:sp>
      <p:sp>
        <p:nvSpPr>
          <p:cNvPr id="3" name="Shape 1"/>
          <p:cNvSpPr/>
          <p:nvPr/>
        </p:nvSpPr>
        <p:spPr>
          <a:xfrm>
            <a:off x="637937" y="1255871"/>
            <a:ext cx="637937" cy="956905"/>
          </a:xfrm>
          <a:prstGeom prst="roundRect">
            <a:avLst>
              <a:gd name="adj" fmla="val 360010"/>
            </a:avLst>
          </a:prstGeom>
          <a:solidFill>
            <a:srgbClr val="F0EAEA"/>
          </a:solidFill>
          <a:ln/>
        </p:spPr>
      </p:sp>
      <p:sp>
        <p:nvSpPr>
          <p:cNvPr id="4" name="Text 2"/>
          <p:cNvSpPr/>
          <p:nvPr/>
        </p:nvSpPr>
        <p:spPr>
          <a:xfrm>
            <a:off x="837248" y="1584841"/>
            <a:ext cx="239197" cy="298966"/>
          </a:xfrm>
          <a:prstGeom prst="rect">
            <a:avLst/>
          </a:prstGeom>
          <a:noFill/>
          <a:ln/>
        </p:spPr>
        <p:txBody>
          <a:bodyPr wrap="none" lIns="0" tIns="0" rIns="0" bIns="0" rtlCol="0" anchor="t"/>
          <a:lstStyle/>
          <a:p>
            <a:pPr marL="0" indent="0" algn="l">
              <a:lnSpc>
                <a:spcPts val="1850"/>
              </a:lnSpc>
              <a:buNone/>
            </a:pPr>
            <a:r>
              <a:rPr lang="en-US" sz="2200" dirty="0">
                <a:solidFill>
                  <a:srgbClr val="61615C"/>
                </a:solidFill>
                <a:latin typeface="Times New Roman" panose="02020603050405020304" pitchFamily="18" charset="0"/>
                <a:ea typeface="Tomorrow Semi Bold" pitchFamily="34" charset="-122"/>
                <a:cs typeface="Times New Roman" panose="02020603050405020304" pitchFamily="18" charset="0"/>
              </a:rPr>
              <a:t>1</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1435298" y="1415296"/>
            <a:ext cx="2872859" cy="249079"/>
          </a:xfrm>
          <a:prstGeom prst="rect">
            <a:avLst/>
          </a:prstGeom>
          <a:noFill/>
          <a:ln/>
        </p:spPr>
        <p:txBody>
          <a:bodyPr wrap="none" lIns="0" tIns="0" rIns="0" bIns="0" rtlCol="0" anchor="t"/>
          <a:lstStyle/>
          <a:p>
            <a:pPr marL="0" indent="0" algn="l">
              <a:lnSpc>
                <a:spcPts val="1950"/>
              </a:lnSpc>
              <a:buNone/>
            </a:pPr>
            <a:r>
              <a:rPr lang="en-US" sz="2200" b="1" dirty="0">
                <a:solidFill>
                  <a:srgbClr val="61615C"/>
                </a:solidFill>
                <a:latin typeface="Times New Roman" panose="02020603050405020304" pitchFamily="18" charset="0"/>
                <a:ea typeface="Tomorrow Semi Bold" pitchFamily="34" charset="-122"/>
                <a:cs typeface="Times New Roman" panose="02020603050405020304" pitchFamily="18" charset="0"/>
              </a:rPr>
              <a:t>Recognize Business Context</a:t>
            </a:r>
            <a:endParaRPr lang="en-US" sz="2200" b="1" dirty="0">
              <a:latin typeface="Times New Roman" panose="02020603050405020304" pitchFamily="18" charset="0"/>
              <a:cs typeface="Times New Roman" panose="02020603050405020304" pitchFamily="18" charset="0"/>
            </a:endParaRPr>
          </a:p>
        </p:txBody>
      </p:sp>
      <p:sp>
        <p:nvSpPr>
          <p:cNvPr id="6" name="Text 4"/>
          <p:cNvSpPr/>
          <p:nvPr/>
        </p:nvSpPr>
        <p:spPr>
          <a:xfrm>
            <a:off x="1435298" y="1759982"/>
            <a:ext cx="12557165" cy="255270"/>
          </a:xfrm>
          <a:prstGeom prst="rect">
            <a:avLst/>
          </a:prstGeom>
          <a:noFill/>
          <a:ln/>
        </p:spPr>
        <p:txBody>
          <a:bodyPr wrap="none" lIns="0" tIns="0" rIns="0" bIns="0" rtlCol="0" anchor="t"/>
          <a:lstStyle/>
          <a:p>
            <a:pPr marL="0" indent="0" algn="l">
              <a:lnSpc>
                <a:spcPts val="2000"/>
              </a:lnSpc>
              <a:buNone/>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Understanding where assessment is performed and which activities need attention</a:t>
            </a:r>
            <a:endParaRPr lang="en-US" sz="2200" dirty="0">
              <a:latin typeface="Times New Roman" panose="02020603050405020304" pitchFamily="18" charset="0"/>
              <a:cs typeface="Times New Roman" panose="02020603050405020304" pitchFamily="18" charset="0"/>
            </a:endParaRPr>
          </a:p>
        </p:txBody>
      </p:sp>
      <p:sp>
        <p:nvSpPr>
          <p:cNvPr id="7" name="Shape 5"/>
          <p:cNvSpPr/>
          <p:nvPr/>
        </p:nvSpPr>
        <p:spPr>
          <a:xfrm>
            <a:off x="637937" y="2372201"/>
            <a:ext cx="637937" cy="956905"/>
          </a:xfrm>
          <a:prstGeom prst="roundRect">
            <a:avLst>
              <a:gd name="adj" fmla="val 360010"/>
            </a:avLst>
          </a:prstGeom>
          <a:solidFill>
            <a:srgbClr val="F0EAEA"/>
          </a:solidFill>
          <a:ln/>
        </p:spPr>
      </p:sp>
      <p:sp>
        <p:nvSpPr>
          <p:cNvPr id="8" name="Text 6"/>
          <p:cNvSpPr/>
          <p:nvPr/>
        </p:nvSpPr>
        <p:spPr>
          <a:xfrm>
            <a:off x="837248" y="2701171"/>
            <a:ext cx="239197" cy="298966"/>
          </a:xfrm>
          <a:prstGeom prst="rect">
            <a:avLst/>
          </a:prstGeom>
          <a:noFill/>
          <a:ln/>
        </p:spPr>
        <p:txBody>
          <a:bodyPr wrap="none" lIns="0" tIns="0" rIns="0" bIns="0" rtlCol="0" anchor="t"/>
          <a:lstStyle/>
          <a:p>
            <a:pPr marL="0" indent="0" algn="l">
              <a:lnSpc>
                <a:spcPts val="1850"/>
              </a:lnSpc>
              <a:buNone/>
            </a:pPr>
            <a:r>
              <a:rPr lang="en-US" sz="2200" dirty="0">
                <a:solidFill>
                  <a:srgbClr val="61615C"/>
                </a:solidFill>
                <a:latin typeface="Times New Roman" panose="02020603050405020304" pitchFamily="18" charset="0"/>
                <a:ea typeface="Tomorrow Semi Bold" pitchFamily="34" charset="-122"/>
                <a:cs typeface="Times New Roman" panose="02020603050405020304" pitchFamily="18" charset="0"/>
              </a:rPr>
              <a:t>2</a:t>
            </a:r>
            <a:endParaRPr lang="en-US" sz="2200" dirty="0">
              <a:latin typeface="Times New Roman" panose="02020603050405020304" pitchFamily="18" charset="0"/>
              <a:cs typeface="Times New Roman" panose="02020603050405020304" pitchFamily="18" charset="0"/>
            </a:endParaRPr>
          </a:p>
        </p:txBody>
      </p:sp>
      <p:sp>
        <p:nvSpPr>
          <p:cNvPr id="9" name="Text 7"/>
          <p:cNvSpPr/>
          <p:nvPr/>
        </p:nvSpPr>
        <p:spPr>
          <a:xfrm>
            <a:off x="1435298" y="2531626"/>
            <a:ext cx="1993583" cy="249079"/>
          </a:xfrm>
          <a:prstGeom prst="rect">
            <a:avLst/>
          </a:prstGeom>
          <a:noFill/>
          <a:ln/>
        </p:spPr>
        <p:txBody>
          <a:bodyPr wrap="none" lIns="0" tIns="0" rIns="0" bIns="0" rtlCol="0" anchor="t"/>
          <a:lstStyle/>
          <a:p>
            <a:pPr marL="0" indent="0" algn="l">
              <a:lnSpc>
                <a:spcPts val="1950"/>
              </a:lnSpc>
              <a:buNone/>
            </a:pPr>
            <a:r>
              <a:rPr lang="en-US" sz="2200" b="1" dirty="0">
                <a:solidFill>
                  <a:srgbClr val="61615C"/>
                </a:solidFill>
                <a:latin typeface="Times New Roman" panose="02020603050405020304" pitchFamily="18" charset="0"/>
                <a:ea typeface="Tomorrow Semi Bold" pitchFamily="34" charset="-122"/>
                <a:cs typeface="Times New Roman" panose="02020603050405020304" pitchFamily="18" charset="0"/>
              </a:rPr>
              <a:t>Categorize Risks</a:t>
            </a:r>
            <a:endParaRPr lang="en-US" sz="2200" b="1" dirty="0">
              <a:latin typeface="Times New Roman" panose="02020603050405020304" pitchFamily="18" charset="0"/>
              <a:cs typeface="Times New Roman" panose="02020603050405020304" pitchFamily="18" charset="0"/>
            </a:endParaRPr>
          </a:p>
        </p:txBody>
      </p:sp>
      <p:sp>
        <p:nvSpPr>
          <p:cNvPr id="10" name="Text 8"/>
          <p:cNvSpPr/>
          <p:nvPr/>
        </p:nvSpPr>
        <p:spPr>
          <a:xfrm>
            <a:off x="1435298" y="2876312"/>
            <a:ext cx="12557165" cy="255270"/>
          </a:xfrm>
          <a:prstGeom prst="rect">
            <a:avLst/>
          </a:prstGeom>
          <a:noFill/>
          <a:ln/>
        </p:spPr>
        <p:txBody>
          <a:bodyPr wrap="none" lIns="0" tIns="0" rIns="0" bIns="0" rtlCol="0" anchor="t"/>
          <a:lstStyle/>
          <a:p>
            <a:pPr marL="0" indent="0" algn="l">
              <a:lnSpc>
                <a:spcPts val="2000"/>
              </a:lnSpc>
              <a:buNone/>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Identifying and classifying business and technical risks</a:t>
            </a:r>
            <a:endParaRPr lang="en-US" sz="2200" dirty="0">
              <a:latin typeface="Times New Roman" panose="02020603050405020304" pitchFamily="18" charset="0"/>
              <a:cs typeface="Times New Roman" panose="02020603050405020304" pitchFamily="18" charset="0"/>
            </a:endParaRPr>
          </a:p>
        </p:txBody>
      </p:sp>
      <p:sp>
        <p:nvSpPr>
          <p:cNvPr id="11" name="Shape 9"/>
          <p:cNvSpPr/>
          <p:nvPr/>
        </p:nvSpPr>
        <p:spPr>
          <a:xfrm>
            <a:off x="637937" y="3488531"/>
            <a:ext cx="637937" cy="956905"/>
          </a:xfrm>
          <a:prstGeom prst="roundRect">
            <a:avLst>
              <a:gd name="adj" fmla="val 360010"/>
            </a:avLst>
          </a:prstGeom>
          <a:solidFill>
            <a:srgbClr val="F0EAEA"/>
          </a:solidFill>
          <a:ln/>
        </p:spPr>
      </p:sp>
      <p:sp>
        <p:nvSpPr>
          <p:cNvPr id="12" name="Text 10"/>
          <p:cNvSpPr/>
          <p:nvPr/>
        </p:nvSpPr>
        <p:spPr>
          <a:xfrm>
            <a:off x="837248" y="3817501"/>
            <a:ext cx="239197" cy="298966"/>
          </a:xfrm>
          <a:prstGeom prst="rect">
            <a:avLst/>
          </a:prstGeom>
          <a:noFill/>
          <a:ln/>
        </p:spPr>
        <p:txBody>
          <a:bodyPr wrap="none" lIns="0" tIns="0" rIns="0" bIns="0" rtlCol="0" anchor="t"/>
          <a:lstStyle/>
          <a:p>
            <a:pPr marL="0" indent="0" algn="l">
              <a:lnSpc>
                <a:spcPts val="1850"/>
              </a:lnSpc>
              <a:buNone/>
            </a:pPr>
            <a:r>
              <a:rPr lang="en-US" sz="2200" dirty="0">
                <a:solidFill>
                  <a:srgbClr val="61615C"/>
                </a:solidFill>
                <a:latin typeface="Times New Roman" panose="02020603050405020304" pitchFamily="18" charset="0"/>
                <a:ea typeface="Tomorrow Semi Bold" pitchFamily="34" charset="-122"/>
                <a:cs typeface="Times New Roman" panose="02020603050405020304" pitchFamily="18" charset="0"/>
              </a:rPr>
              <a:t>3</a:t>
            </a:r>
            <a:endParaRPr lang="en-US" sz="2200" dirty="0">
              <a:latin typeface="Times New Roman" panose="02020603050405020304" pitchFamily="18" charset="0"/>
              <a:cs typeface="Times New Roman" panose="02020603050405020304" pitchFamily="18" charset="0"/>
            </a:endParaRPr>
          </a:p>
        </p:txBody>
      </p:sp>
      <p:sp>
        <p:nvSpPr>
          <p:cNvPr id="13" name="Text 11"/>
          <p:cNvSpPr/>
          <p:nvPr/>
        </p:nvSpPr>
        <p:spPr>
          <a:xfrm>
            <a:off x="1435298" y="3647956"/>
            <a:ext cx="2301716" cy="249079"/>
          </a:xfrm>
          <a:prstGeom prst="rect">
            <a:avLst/>
          </a:prstGeom>
          <a:noFill/>
          <a:ln/>
        </p:spPr>
        <p:txBody>
          <a:bodyPr wrap="none" lIns="0" tIns="0" rIns="0" bIns="0" rtlCol="0" anchor="t"/>
          <a:lstStyle/>
          <a:p>
            <a:pPr marL="0" indent="0" algn="l">
              <a:lnSpc>
                <a:spcPts val="1950"/>
              </a:lnSpc>
              <a:buNone/>
            </a:pPr>
            <a:r>
              <a:rPr lang="en-US" sz="2200" b="1" dirty="0">
                <a:solidFill>
                  <a:srgbClr val="61615C"/>
                </a:solidFill>
                <a:latin typeface="Times New Roman" panose="02020603050405020304" pitchFamily="18" charset="0"/>
                <a:ea typeface="Tomorrow Semi Bold" pitchFamily="34" charset="-122"/>
                <a:cs typeface="Times New Roman" panose="02020603050405020304" pitchFamily="18" charset="0"/>
              </a:rPr>
              <a:t>Synthesize &amp; Prioritize</a:t>
            </a:r>
            <a:endParaRPr lang="en-US" sz="2200" b="1" dirty="0">
              <a:latin typeface="Times New Roman" panose="02020603050405020304" pitchFamily="18" charset="0"/>
              <a:cs typeface="Times New Roman" panose="02020603050405020304" pitchFamily="18" charset="0"/>
            </a:endParaRPr>
          </a:p>
        </p:txBody>
      </p:sp>
      <p:sp>
        <p:nvSpPr>
          <p:cNvPr id="14" name="Text 12"/>
          <p:cNvSpPr/>
          <p:nvPr/>
        </p:nvSpPr>
        <p:spPr>
          <a:xfrm>
            <a:off x="1435298" y="3992642"/>
            <a:ext cx="12557165" cy="255270"/>
          </a:xfrm>
          <a:prstGeom prst="rect">
            <a:avLst/>
          </a:prstGeom>
          <a:noFill/>
          <a:ln/>
        </p:spPr>
        <p:txBody>
          <a:bodyPr wrap="none" lIns="0" tIns="0" rIns="0" bIns="0" rtlCol="0" anchor="t"/>
          <a:lstStyle/>
          <a:p>
            <a:pPr marL="0" indent="0" algn="l">
              <a:lnSpc>
                <a:spcPts val="2000"/>
              </a:lnSpc>
              <a:buNone/>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Creating ranked set of risks based on severity and impact</a:t>
            </a:r>
            <a:endParaRPr lang="en-US" sz="2200" dirty="0">
              <a:latin typeface="Times New Roman" panose="02020603050405020304" pitchFamily="18" charset="0"/>
              <a:cs typeface="Times New Roman" panose="02020603050405020304" pitchFamily="18" charset="0"/>
            </a:endParaRPr>
          </a:p>
        </p:txBody>
      </p:sp>
      <p:sp>
        <p:nvSpPr>
          <p:cNvPr id="15" name="Shape 13"/>
          <p:cNvSpPr/>
          <p:nvPr/>
        </p:nvSpPr>
        <p:spPr>
          <a:xfrm>
            <a:off x="637937" y="4604861"/>
            <a:ext cx="637937" cy="956905"/>
          </a:xfrm>
          <a:prstGeom prst="roundRect">
            <a:avLst>
              <a:gd name="adj" fmla="val 360010"/>
            </a:avLst>
          </a:prstGeom>
          <a:solidFill>
            <a:srgbClr val="F0EAEA"/>
          </a:solidFill>
          <a:ln/>
        </p:spPr>
      </p:sp>
      <p:sp>
        <p:nvSpPr>
          <p:cNvPr id="16" name="Text 14"/>
          <p:cNvSpPr/>
          <p:nvPr/>
        </p:nvSpPr>
        <p:spPr>
          <a:xfrm>
            <a:off x="837248" y="4933831"/>
            <a:ext cx="239197" cy="298966"/>
          </a:xfrm>
          <a:prstGeom prst="rect">
            <a:avLst/>
          </a:prstGeom>
          <a:noFill/>
          <a:ln/>
        </p:spPr>
        <p:txBody>
          <a:bodyPr wrap="none" lIns="0" tIns="0" rIns="0" bIns="0" rtlCol="0" anchor="t"/>
          <a:lstStyle/>
          <a:p>
            <a:pPr marL="0" indent="0" algn="l">
              <a:lnSpc>
                <a:spcPts val="1850"/>
              </a:lnSpc>
              <a:buNone/>
            </a:pPr>
            <a:r>
              <a:rPr lang="en-US" sz="2200" dirty="0">
                <a:solidFill>
                  <a:srgbClr val="61615C"/>
                </a:solidFill>
                <a:latin typeface="Times New Roman" panose="02020603050405020304" pitchFamily="18" charset="0"/>
                <a:ea typeface="Tomorrow Semi Bold" pitchFamily="34" charset="-122"/>
                <a:cs typeface="Times New Roman" panose="02020603050405020304" pitchFamily="18" charset="0"/>
              </a:rPr>
              <a:t>4</a:t>
            </a:r>
            <a:endParaRPr lang="en-US" sz="2200" dirty="0">
              <a:latin typeface="Times New Roman" panose="02020603050405020304" pitchFamily="18" charset="0"/>
              <a:cs typeface="Times New Roman" panose="02020603050405020304" pitchFamily="18" charset="0"/>
            </a:endParaRPr>
          </a:p>
        </p:txBody>
      </p:sp>
      <p:sp>
        <p:nvSpPr>
          <p:cNvPr id="17" name="Text 15"/>
          <p:cNvSpPr/>
          <p:nvPr/>
        </p:nvSpPr>
        <p:spPr>
          <a:xfrm>
            <a:off x="1435298" y="4764286"/>
            <a:ext cx="2616160" cy="249079"/>
          </a:xfrm>
          <a:prstGeom prst="rect">
            <a:avLst/>
          </a:prstGeom>
          <a:noFill/>
          <a:ln/>
        </p:spPr>
        <p:txBody>
          <a:bodyPr wrap="none" lIns="0" tIns="0" rIns="0" bIns="0" rtlCol="0" anchor="t"/>
          <a:lstStyle/>
          <a:p>
            <a:pPr marL="0" indent="0" algn="l">
              <a:lnSpc>
                <a:spcPts val="1950"/>
              </a:lnSpc>
              <a:buNone/>
            </a:pPr>
            <a:r>
              <a:rPr lang="en-US" sz="2200" b="1" dirty="0">
                <a:solidFill>
                  <a:srgbClr val="61615C"/>
                </a:solidFill>
                <a:latin typeface="Times New Roman" panose="02020603050405020304" pitchFamily="18" charset="0"/>
                <a:ea typeface="Tomorrow Semi Bold" pitchFamily="34" charset="-122"/>
                <a:cs typeface="Times New Roman" panose="02020603050405020304" pitchFamily="18" charset="0"/>
              </a:rPr>
              <a:t>Define Mitigation Strategy</a:t>
            </a:r>
            <a:endParaRPr lang="en-US" sz="2200" b="1" dirty="0">
              <a:latin typeface="Times New Roman" panose="02020603050405020304" pitchFamily="18" charset="0"/>
              <a:cs typeface="Times New Roman" panose="02020603050405020304" pitchFamily="18" charset="0"/>
            </a:endParaRPr>
          </a:p>
        </p:txBody>
      </p:sp>
      <p:sp>
        <p:nvSpPr>
          <p:cNvPr id="18" name="Text 16"/>
          <p:cNvSpPr/>
          <p:nvPr/>
        </p:nvSpPr>
        <p:spPr>
          <a:xfrm>
            <a:off x="1435298" y="5108972"/>
            <a:ext cx="12557165" cy="255270"/>
          </a:xfrm>
          <a:prstGeom prst="rect">
            <a:avLst/>
          </a:prstGeom>
          <a:noFill/>
          <a:ln/>
        </p:spPr>
        <p:txBody>
          <a:bodyPr wrap="none" lIns="0" tIns="0" rIns="0" bIns="0" rtlCol="0" anchor="t"/>
          <a:lstStyle/>
          <a:p>
            <a:pPr marL="0" indent="0" algn="l">
              <a:lnSpc>
                <a:spcPts val="2000"/>
              </a:lnSpc>
              <a:buNone/>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Developing approach to address identified risks</a:t>
            </a:r>
            <a:endParaRPr lang="en-US" sz="2200" dirty="0">
              <a:latin typeface="Times New Roman" panose="02020603050405020304" pitchFamily="18" charset="0"/>
              <a:cs typeface="Times New Roman" panose="02020603050405020304" pitchFamily="18" charset="0"/>
            </a:endParaRPr>
          </a:p>
        </p:txBody>
      </p:sp>
      <p:sp>
        <p:nvSpPr>
          <p:cNvPr id="19" name="Shape 17"/>
          <p:cNvSpPr/>
          <p:nvPr/>
        </p:nvSpPr>
        <p:spPr>
          <a:xfrm>
            <a:off x="637937" y="5721191"/>
            <a:ext cx="637937" cy="956905"/>
          </a:xfrm>
          <a:prstGeom prst="roundRect">
            <a:avLst>
              <a:gd name="adj" fmla="val 360010"/>
            </a:avLst>
          </a:prstGeom>
          <a:solidFill>
            <a:srgbClr val="F0EAEA"/>
          </a:solidFill>
          <a:ln/>
        </p:spPr>
      </p:sp>
      <p:sp>
        <p:nvSpPr>
          <p:cNvPr id="20" name="Text 18"/>
          <p:cNvSpPr/>
          <p:nvPr/>
        </p:nvSpPr>
        <p:spPr>
          <a:xfrm>
            <a:off x="837248" y="6050161"/>
            <a:ext cx="239197" cy="298966"/>
          </a:xfrm>
          <a:prstGeom prst="rect">
            <a:avLst/>
          </a:prstGeom>
          <a:noFill/>
          <a:ln/>
        </p:spPr>
        <p:txBody>
          <a:bodyPr wrap="none" lIns="0" tIns="0" rIns="0" bIns="0" rtlCol="0" anchor="t"/>
          <a:lstStyle/>
          <a:p>
            <a:pPr marL="0" indent="0" algn="l">
              <a:lnSpc>
                <a:spcPts val="1850"/>
              </a:lnSpc>
              <a:buNone/>
            </a:pPr>
            <a:r>
              <a:rPr lang="en-US" sz="2200" dirty="0">
                <a:solidFill>
                  <a:srgbClr val="61615C"/>
                </a:solidFill>
                <a:latin typeface="Times New Roman" panose="02020603050405020304" pitchFamily="18" charset="0"/>
                <a:ea typeface="Tomorrow Semi Bold" pitchFamily="34" charset="-122"/>
                <a:cs typeface="Times New Roman" panose="02020603050405020304" pitchFamily="18" charset="0"/>
              </a:rPr>
              <a:t>5</a:t>
            </a:r>
            <a:endParaRPr lang="en-US" sz="2200" dirty="0">
              <a:latin typeface="Times New Roman" panose="02020603050405020304" pitchFamily="18" charset="0"/>
              <a:cs typeface="Times New Roman" panose="02020603050405020304" pitchFamily="18" charset="0"/>
            </a:endParaRPr>
          </a:p>
        </p:txBody>
      </p:sp>
      <p:sp>
        <p:nvSpPr>
          <p:cNvPr id="21" name="Text 19"/>
          <p:cNvSpPr/>
          <p:nvPr/>
        </p:nvSpPr>
        <p:spPr>
          <a:xfrm>
            <a:off x="1435298" y="5880616"/>
            <a:ext cx="1993583" cy="249079"/>
          </a:xfrm>
          <a:prstGeom prst="rect">
            <a:avLst/>
          </a:prstGeom>
          <a:noFill/>
          <a:ln/>
        </p:spPr>
        <p:txBody>
          <a:bodyPr wrap="none" lIns="0" tIns="0" rIns="0" bIns="0" rtlCol="0" anchor="t"/>
          <a:lstStyle/>
          <a:p>
            <a:pPr marL="0" indent="0" algn="l">
              <a:lnSpc>
                <a:spcPts val="1950"/>
              </a:lnSpc>
              <a:buNone/>
            </a:pPr>
            <a:r>
              <a:rPr lang="en-US" sz="2200" b="1" dirty="0">
                <a:solidFill>
                  <a:srgbClr val="61615C"/>
                </a:solidFill>
                <a:latin typeface="Times New Roman" panose="02020603050405020304" pitchFamily="18" charset="0"/>
                <a:ea typeface="Tomorrow Semi Bold" pitchFamily="34" charset="-122"/>
                <a:cs typeface="Times New Roman" panose="02020603050405020304" pitchFamily="18" charset="0"/>
              </a:rPr>
              <a:t>Review &amp; Revise</a:t>
            </a:r>
            <a:endParaRPr lang="en-US" sz="2200" b="1" dirty="0">
              <a:latin typeface="Times New Roman" panose="02020603050405020304" pitchFamily="18" charset="0"/>
              <a:cs typeface="Times New Roman" panose="02020603050405020304" pitchFamily="18" charset="0"/>
            </a:endParaRPr>
          </a:p>
        </p:txBody>
      </p:sp>
      <p:sp>
        <p:nvSpPr>
          <p:cNvPr id="22" name="Text 20"/>
          <p:cNvSpPr/>
          <p:nvPr/>
        </p:nvSpPr>
        <p:spPr>
          <a:xfrm>
            <a:off x="1435298" y="6225302"/>
            <a:ext cx="12557165" cy="255270"/>
          </a:xfrm>
          <a:prstGeom prst="rect">
            <a:avLst/>
          </a:prstGeom>
          <a:noFill/>
          <a:ln/>
        </p:spPr>
        <p:txBody>
          <a:bodyPr wrap="none" lIns="0" tIns="0" rIns="0" bIns="0" rtlCol="0" anchor="t"/>
          <a:lstStyle/>
          <a:p>
            <a:pPr marL="0" indent="0" algn="l">
              <a:lnSpc>
                <a:spcPts val="2000"/>
              </a:lnSpc>
              <a:buNone/>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Continuous evaluation based on observations and findings</a:t>
            </a:r>
            <a:endParaRPr lang="en-US" sz="2200" dirty="0">
              <a:latin typeface="Times New Roman" panose="02020603050405020304" pitchFamily="18" charset="0"/>
              <a:cs typeface="Times New Roman" panose="02020603050405020304" pitchFamily="18" charset="0"/>
            </a:endParaRPr>
          </a:p>
        </p:txBody>
      </p:sp>
      <p:sp>
        <p:nvSpPr>
          <p:cNvPr id="23" name="Shape 21"/>
          <p:cNvSpPr/>
          <p:nvPr/>
        </p:nvSpPr>
        <p:spPr>
          <a:xfrm>
            <a:off x="637937" y="6837521"/>
            <a:ext cx="637937" cy="956905"/>
          </a:xfrm>
          <a:prstGeom prst="roundRect">
            <a:avLst>
              <a:gd name="adj" fmla="val 360010"/>
            </a:avLst>
          </a:prstGeom>
          <a:solidFill>
            <a:srgbClr val="F0EAEA"/>
          </a:solidFill>
          <a:ln/>
        </p:spPr>
      </p:sp>
      <p:sp>
        <p:nvSpPr>
          <p:cNvPr id="24" name="Text 22"/>
          <p:cNvSpPr/>
          <p:nvPr/>
        </p:nvSpPr>
        <p:spPr>
          <a:xfrm>
            <a:off x="837248" y="7166491"/>
            <a:ext cx="239197" cy="298966"/>
          </a:xfrm>
          <a:prstGeom prst="rect">
            <a:avLst/>
          </a:prstGeom>
          <a:noFill/>
          <a:ln/>
        </p:spPr>
        <p:txBody>
          <a:bodyPr wrap="none" lIns="0" tIns="0" rIns="0" bIns="0" rtlCol="0" anchor="t"/>
          <a:lstStyle/>
          <a:p>
            <a:pPr marL="0" indent="0" algn="l">
              <a:lnSpc>
                <a:spcPts val="1850"/>
              </a:lnSpc>
              <a:buNone/>
            </a:pPr>
            <a:r>
              <a:rPr lang="en-US" sz="2200" dirty="0">
                <a:solidFill>
                  <a:srgbClr val="61615C"/>
                </a:solidFill>
                <a:latin typeface="Times New Roman" panose="02020603050405020304" pitchFamily="18" charset="0"/>
                <a:ea typeface="Tomorrow Semi Bold" pitchFamily="34" charset="-122"/>
                <a:cs typeface="Times New Roman" panose="02020603050405020304" pitchFamily="18" charset="0"/>
              </a:rPr>
              <a:t>6</a:t>
            </a:r>
            <a:endParaRPr lang="en-US" sz="2200" dirty="0">
              <a:latin typeface="Times New Roman" panose="02020603050405020304" pitchFamily="18" charset="0"/>
              <a:cs typeface="Times New Roman" panose="02020603050405020304" pitchFamily="18" charset="0"/>
            </a:endParaRPr>
          </a:p>
        </p:txBody>
      </p:sp>
      <p:sp>
        <p:nvSpPr>
          <p:cNvPr id="25" name="Text 23"/>
          <p:cNvSpPr/>
          <p:nvPr/>
        </p:nvSpPr>
        <p:spPr>
          <a:xfrm>
            <a:off x="1435298" y="6996946"/>
            <a:ext cx="1993583" cy="249079"/>
          </a:xfrm>
          <a:prstGeom prst="rect">
            <a:avLst/>
          </a:prstGeom>
          <a:noFill/>
          <a:ln/>
        </p:spPr>
        <p:txBody>
          <a:bodyPr wrap="none" lIns="0" tIns="0" rIns="0" bIns="0" rtlCol="0" anchor="t"/>
          <a:lstStyle/>
          <a:p>
            <a:pPr marL="0" indent="0" algn="l">
              <a:lnSpc>
                <a:spcPts val="1950"/>
              </a:lnSpc>
              <a:buNone/>
            </a:pPr>
            <a:r>
              <a:rPr lang="en-US" sz="2200" b="1" dirty="0">
                <a:solidFill>
                  <a:srgbClr val="61615C"/>
                </a:solidFill>
                <a:latin typeface="Times New Roman" panose="02020603050405020304" pitchFamily="18" charset="0"/>
                <a:ea typeface="Tomorrow Semi Bold" pitchFamily="34" charset="-122"/>
                <a:cs typeface="Times New Roman" panose="02020603050405020304" pitchFamily="18" charset="0"/>
              </a:rPr>
              <a:t>Carry Out Fixes</a:t>
            </a:r>
            <a:endParaRPr lang="en-US" sz="2200" b="1" dirty="0">
              <a:latin typeface="Times New Roman" panose="02020603050405020304" pitchFamily="18" charset="0"/>
              <a:cs typeface="Times New Roman" panose="02020603050405020304" pitchFamily="18" charset="0"/>
            </a:endParaRPr>
          </a:p>
        </p:txBody>
      </p:sp>
      <p:sp>
        <p:nvSpPr>
          <p:cNvPr id="26" name="Text 24"/>
          <p:cNvSpPr/>
          <p:nvPr/>
        </p:nvSpPr>
        <p:spPr>
          <a:xfrm>
            <a:off x="1435298" y="7341632"/>
            <a:ext cx="12557165" cy="255270"/>
          </a:xfrm>
          <a:prstGeom prst="rect">
            <a:avLst/>
          </a:prstGeom>
          <a:noFill/>
          <a:ln/>
        </p:spPr>
        <p:txBody>
          <a:bodyPr wrap="none" lIns="0" tIns="0" rIns="0" bIns="0" rtlCol="0" anchor="t"/>
          <a:lstStyle/>
          <a:p>
            <a:pPr marL="0" indent="0" algn="l">
              <a:lnSpc>
                <a:spcPts val="2000"/>
              </a:lnSpc>
              <a:buNone/>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Implementing solutions and validating for correctness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793790" y="1080492"/>
            <a:ext cx="1259205" cy="373142"/>
          </a:xfrm>
          <a:prstGeom prst="roundRect">
            <a:avLst>
              <a:gd name="adj" fmla="val 6383"/>
            </a:avLst>
          </a:prstGeom>
          <a:solidFill>
            <a:srgbClr val="E6E6E5"/>
          </a:solidFill>
          <a:ln/>
        </p:spPr>
      </p:sp>
      <p:sp>
        <p:nvSpPr>
          <p:cNvPr id="3" name="Text 1"/>
          <p:cNvSpPr/>
          <p:nvPr/>
        </p:nvSpPr>
        <p:spPr>
          <a:xfrm>
            <a:off x="912852" y="1140023"/>
            <a:ext cx="1021080" cy="254079"/>
          </a:xfrm>
          <a:prstGeom prst="rect">
            <a:avLst/>
          </a:prstGeom>
          <a:noFill/>
          <a:ln/>
        </p:spPr>
        <p:txBody>
          <a:bodyPr wrap="none" lIns="0" tIns="0" rIns="0" bIns="0" rtlCol="0" anchor="t"/>
          <a:lstStyle/>
          <a:p>
            <a:pPr marL="0" indent="0" algn="l">
              <a:lnSpc>
                <a:spcPts val="2000"/>
              </a:lnSpc>
              <a:buNone/>
            </a:pPr>
            <a:r>
              <a:rPr lang="en-US" sz="1250" dirty="0">
                <a:solidFill>
                  <a:srgbClr val="61615C"/>
                </a:solidFill>
                <a:latin typeface="Times New Roman" panose="02020603050405020304" pitchFamily="18" charset="0"/>
                <a:ea typeface="Tomorrow" pitchFamily="34" charset="-122"/>
                <a:cs typeface="Times New Roman" panose="02020603050405020304" pitchFamily="18" charset="0"/>
              </a:rPr>
              <a:t>CONCLUSION</a:t>
            </a:r>
            <a:endParaRPr lang="en-US" sz="1250" dirty="0">
              <a:latin typeface="Times New Roman" panose="02020603050405020304" pitchFamily="18" charset="0"/>
              <a:cs typeface="Times New Roman" panose="02020603050405020304" pitchFamily="18" charset="0"/>
            </a:endParaRPr>
          </a:p>
        </p:txBody>
      </p:sp>
      <p:sp>
        <p:nvSpPr>
          <p:cNvPr id="4" name="Text 2"/>
          <p:cNvSpPr/>
          <p:nvPr/>
        </p:nvSpPr>
        <p:spPr>
          <a:xfrm>
            <a:off x="793790" y="1532930"/>
            <a:ext cx="9963388" cy="620078"/>
          </a:xfrm>
          <a:prstGeom prst="rect">
            <a:avLst/>
          </a:prstGeom>
          <a:noFill/>
          <a:ln/>
        </p:spPr>
        <p:txBody>
          <a:bodyPr wrap="none" lIns="0" tIns="0" rIns="0" bIns="0" rtlCol="0" anchor="t"/>
          <a:lstStyle/>
          <a:p>
            <a:pPr marL="0" indent="0" algn="l">
              <a:lnSpc>
                <a:spcPts val="4850"/>
              </a:lnSpc>
              <a:buNone/>
            </a:pPr>
            <a:r>
              <a:rPr lang="en-US" sz="3900" dirty="0">
                <a:solidFill>
                  <a:srgbClr val="1D1D1B"/>
                </a:solidFill>
                <a:latin typeface="Times New Roman" panose="02020603050405020304" pitchFamily="18" charset="0"/>
                <a:ea typeface="Tomorrow Semi Bold" pitchFamily="34" charset="-122"/>
                <a:cs typeface="Times New Roman" panose="02020603050405020304" pitchFamily="18" charset="0"/>
              </a:rPr>
              <a:t>Security Engineering: The Path Forward</a:t>
            </a:r>
            <a:endParaRPr lang="en-US" sz="3900" dirty="0">
              <a:latin typeface="Times New Roman" panose="02020603050405020304" pitchFamily="18" charset="0"/>
              <a:cs typeface="Times New Roman" panose="02020603050405020304" pitchFamily="18" charset="0"/>
            </a:endParaRPr>
          </a:p>
        </p:txBody>
      </p:sp>
      <p:sp>
        <p:nvSpPr>
          <p:cNvPr id="5" name="Text 3"/>
          <p:cNvSpPr/>
          <p:nvPr/>
        </p:nvSpPr>
        <p:spPr>
          <a:xfrm>
            <a:off x="793789" y="2629257"/>
            <a:ext cx="11007349" cy="3072296"/>
          </a:xfrm>
          <a:prstGeom prst="rect">
            <a:avLst/>
          </a:prstGeom>
          <a:noFill/>
          <a:ln/>
        </p:spPr>
        <p:txBody>
          <a:bodyPr wrap="square" lIns="0" tIns="0" rIns="0" bIns="0" rtlCol="0" anchor="t"/>
          <a:lstStyle/>
          <a:p>
            <a:pPr marL="285750" indent="-285750" algn="l">
              <a:lnSpc>
                <a:spcPct val="150000"/>
              </a:lnSpc>
              <a:buFont typeface="Arial" panose="020B0604020202020204" pitchFamily="34" charset="0"/>
              <a:buChar char="•"/>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Security is a multidimensional theory.</a:t>
            </a:r>
          </a:p>
          <a:p>
            <a:pPr marL="285750" indent="-285750" algn="l">
              <a:lnSpc>
                <a:spcPct val="150000"/>
              </a:lnSpc>
              <a:buFont typeface="Arial" panose="020B0604020202020204" pitchFamily="34" charset="0"/>
              <a:buChar char="•"/>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The major objective is to find out appropriate issues related with software at early stage.</a:t>
            </a:r>
          </a:p>
          <a:p>
            <a:pPr marL="285750" indent="-285750">
              <a:lnSpc>
                <a:spcPct val="150000"/>
              </a:lnSpc>
              <a:buFont typeface="Arial" panose="020B0604020202020204" pitchFamily="34" charset="0"/>
              <a:buChar char="•"/>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To secure software, it is important to apply security approaches to its design phase.</a:t>
            </a:r>
          </a:p>
          <a:p>
            <a:pPr marL="285750" indent="-285750">
              <a:lnSpc>
                <a:spcPct val="150000"/>
              </a:lnSpc>
              <a:buFont typeface="Arial" panose="020B0604020202020204" pitchFamily="34" charset="0"/>
              <a:buChar char="•"/>
            </a:pPr>
            <a:r>
              <a:rPr lang="en-US" sz="2200" dirty="0">
                <a:solidFill>
                  <a:srgbClr val="61615C"/>
                </a:solidFill>
                <a:latin typeface="Times New Roman" panose="02020603050405020304" pitchFamily="18" charset="0"/>
                <a:ea typeface="Tomorrow" pitchFamily="34" charset="-122"/>
                <a:cs typeface="Times New Roman" panose="02020603050405020304" pitchFamily="18" charset="0"/>
              </a:rPr>
              <a:t>The pillars of security are helpful to fix security problems in the frame of risk management, best practices, and knowledge.</a:t>
            </a: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912852" y="4638793"/>
            <a:ext cx="6279356" cy="1270159"/>
          </a:xfrm>
          <a:prstGeom prst="rect">
            <a:avLst/>
          </a:prstGeom>
          <a:noFill/>
          <a:ln/>
        </p:spPr>
        <p:txBody>
          <a:bodyPr wrap="square" lIns="0" tIns="0" rIns="0" bIns="0" rtlCol="0" anchor="t"/>
          <a:lstStyle/>
          <a:p>
            <a:pPr marL="0" indent="0" algn="l">
              <a:lnSpc>
                <a:spcPts val="2500"/>
              </a:lnSpc>
              <a:buNone/>
            </a:pPr>
            <a:endParaRPr lang="en-US" sz="155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TotalTime>
  <Words>1234</Words>
  <Application>Microsoft Office PowerPoint</Application>
  <PresentationFormat>Custom</PresentationFormat>
  <Paragraphs>196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Tomorrow</vt:lpstr>
      <vt:lpstr>Times New Roman</vt:lpstr>
      <vt:lpstr>Tomorrow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Dr. Maen Mohammad Mustafa Hammad</dc:creator>
  <cp:lastModifiedBy>Dr. Maen Mohammad Mustafa Hammad</cp:lastModifiedBy>
  <cp:revision>24</cp:revision>
  <dcterms:created xsi:type="dcterms:W3CDTF">2026-01-04T11:23:08Z</dcterms:created>
  <dcterms:modified xsi:type="dcterms:W3CDTF">2026-01-27T07:24:25Z</dcterms:modified>
</cp:coreProperties>
</file>